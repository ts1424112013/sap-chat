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定位：内网 SAP 系统上的 AI 聊天应用。技术形态：UI5 BSP 前端 + ABAP OData + 企业大模型网关。四个数字：5 场景、9 只读工具、22 接口、数据零出内网。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三大能力：聊 ABAP、日常问答、分级管理。右侧技术栈三层：UI5 BSP、ABAP OData、企业 LLM 网关。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链路：UI5 → 网关 OData → ABAP 编排 → LLM 网关。ABAP 编排层是核心：意图识别、受控取数、提示词组装、落库审计。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八大功能。重点讲 Agent 任务（下一页展开）与数据可视化（原生 SVG）。会话管理含 V2.0 新增的置顶/搜索/分页。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五场景卡片 + 边界说明。强调确定性拒绝与白名单优先级：场景键 &gt; 全局键。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八步链路 + 与 RAG 的差异论证：实时性、边界确定性、可审计。右下角是六类只读数据源。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五条防线 + 右侧一句话总结：数据不出内网、业务只读、审计可回放。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时间线六节点，最后一节点金色 = 当前版本。底部强调部署状态：三批待上线。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三列上手路径 + 文档地图 + 测评原则。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05840"/>
            <a:ext cx="502920" cy="50292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" y="1005840"/>
            <a:ext cx="502920" cy="50292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项目介绍 · V2.0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部署在企业内网 SAP 系统上的 AI 聊天应用：SAP UI5 前端（BSP 应用）+ ABAP OData 服务 + 企业内大模型网关，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开发者与业务顾问直接用自然语言聊 ABAP、查数据、跑报表 —— 全程不出内网。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7091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846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大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业务场景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93008" y="47091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4846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白名单只读工具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0216" y="47091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4846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OData Function Import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107424" y="47091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48463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业务数据出内网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580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文档版本 V2.0 ｜ 2026-10-12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966960" y="6263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这是什么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一个跑在 SAP 服务器里的 AI 聊天应用：免装客户端、按角色分级、开箱即用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6ED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25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1216152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 ABAP</a:t>
            </a:r>
            <a:endParaRPr lang="en-US" sz="1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读源码、看表结构、取真实数据——进入 Agent 对应场景，由白名单工具受控取数，把系统事实喂给大模型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6ED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743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2633472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日常问答</a:t>
            </a:r>
            <a:endParaRPr lang="en-US" sz="1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不带对象名的提问就是普通 AI 对话：代码生成、解释、翻译、写文档；点名 SAP 对象时给出“转到 Agent”建议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6ED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160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050792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多人可用、分级管理</a:t>
            </a:r>
            <a:endParaRPr lang="en-US" sz="1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ADMIN 维护模型接入、分析角色、泡泡提示词、用户开通与 Agent 测评；USER 开箱即用，看不到任何维护入口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726680" y="1325880"/>
            <a:ext cx="4005072" cy="4160520"/>
          </a:xfrm>
          <a:prstGeom prst="roundRect">
            <a:avLst>
              <a:gd name="adj" fmla="val 2283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技术形态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2057400"/>
            <a:ext cx="347472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C9D6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83880" y="2112264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UI5 前端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BSP 应用 ZAI_CHAT_DEMO1，自带 UI5 1.130 运行时，Chrome/Edge 免安装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646920" y="2862072"/>
            <a:ext cx="182880" cy="155448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21" name="Shape 19"/>
          <p:cNvSpPr/>
          <p:nvPr/>
        </p:nvSpPr>
        <p:spPr>
          <a:xfrm>
            <a:off x="8001000" y="3017520"/>
            <a:ext cx="347472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C9D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3072384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OData 服务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ZAI_CHAT_SRV：22 个 Function Import，网关类 + 编排类 + 工具类分层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646920" y="3822192"/>
            <a:ext cx="182880" cy="155448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24" name="Shape 22"/>
          <p:cNvSpPr/>
          <p:nvPr/>
        </p:nvSpPr>
        <p:spPr>
          <a:xfrm>
            <a:off x="8001000" y="3977640"/>
            <a:ext cx="347472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C9D6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83880" y="4032504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企业大模型网关</a:t>
            </a:r>
            <a:endParaRPr lang="en-US" sz="12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兼容（SM59: ZAI_LLM_AFIONE），多模型配置表驱动、零代码切换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01000" y="502920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全部跑在 SAP 服务器上：不需要额外前端服务器，业务数据不出内网。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系统全景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一次提问的完整路径：浏览器 → SAP 网关 → ABAP 编排 → 大模型，答案原路返回并落库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542032" cy="288036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5636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194767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UI5 前端（BSP）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1792" y="2286000"/>
            <a:ext cx="22128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聊天界面 · 场景选择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打字机渲染 · SVG 图表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Basic + CSRF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54096" y="2729484"/>
            <a:ext cx="274320" cy="256032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542032" cy="288036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7872" y="15636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网关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7872" y="194767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ICF + OData V2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47872" y="2286000"/>
            <a:ext cx="22128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ZAI_CHAT_SRV 服务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 Function Import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同源部署，无 CORS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80176" y="2729484"/>
            <a:ext cx="274320" cy="256032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1417320"/>
            <a:ext cx="2542032" cy="2880360"/>
          </a:xfrm>
          <a:prstGeom prst="roundRect">
            <a:avLst>
              <a:gd name="adj" fmla="val 3237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15636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编排层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73952" y="194767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网关类 + 编排类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73952" y="2286000"/>
            <a:ext cx="22128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ZCL_ZAI_CHAT_DPC_EXT 分发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ZCL_AI_CHAT_SERVICE 对话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ZCL_AI_AGENT_SERVICE Agent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ZCL_AI_LLM_CLIENT 调模型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06256" y="2729484"/>
            <a:ext cx="274320" cy="256032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22" name="Shape 20"/>
          <p:cNvSpPr/>
          <p:nvPr/>
        </p:nvSpPr>
        <p:spPr>
          <a:xfrm>
            <a:off x="9235440" y="1417320"/>
            <a:ext cx="2542032" cy="2880360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00032" y="156362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大模型网关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400032" y="194767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00032" y="2286000"/>
            <a:ext cx="22128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SM59: ZAI_LLM_AFIONE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多模型配置表 ZAI_MODEL_CFG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AUTO 路由 · 故障降级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617720"/>
            <a:ext cx="11274552" cy="1417320"/>
          </a:xfrm>
          <a:prstGeom prst="roundRect">
            <a:avLst>
              <a:gd name="adj" fmla="val 5806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7731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编排层在 ABAP 里做的四件事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31520" y="513892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识别意图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规则路由五大场景，场景外诉求确定性拒绝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520440" y="513892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受控取数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只跑白名单工具，S_TABU 表权限逐表校验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组装提示词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系统提示 + 多轮历史 + 真实业务事实注入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098280" y="5138928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落库与审计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会话/消息/Agent 步骤全量留存 ZAI_* 表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对话、分析、Agent 任务与管理的完整能力清单（截至 V2.0，2026-10-12）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91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1481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76656" y="1938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多轮会话 · 流式打字机 · Markdown 渲染 · 代码高亮一键复制 · 生成中可停止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6704" y="1371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47872" y="1591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3" name="Text 11"/>
          <p:cNvSpPr/>
          <p:nvPr/>
        </p:nvSpPr>
        <p:spPr>
          <a:xfrm>
            <a:off x="3785616" y="1481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源码分析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566160" y="1938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Z/Y 程序、类、函数组、tcode 自动识别；INCLUDE 递归展开喂给模型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1591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481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表数据分析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55664" y="1938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多种说法识别表名；字段结构 + 前 N 行真实样例（50 行 / 16KB 护栏）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25712" y="1371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1591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1" name="Text 19"/>
          <p:cNvSpPr/>
          <p:nvPr/>
        </p:nvSpPr>
        <p:spPr>
          <a:xfrm>
            <a:off x="9564624" y="1481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任务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345168" y="1938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五大业务场景受控工具循环；报表结果 READY 后直接追问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3877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5" name="Text 23"/>
          <p:cNvSpPr/>
          <p:nvPr/>
        </p:nvSpPr>
        <p:spPr>
          <a:xfrm>
            <a:off x="896112" y="3767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数据可视化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76656" y="4224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分析结果对话内渲染原生 SVG 图表，紧跟来源表格，零外部依赖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46704" y="3657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7872" y="3877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9" name="Text 27"/>
          <p:cNvSpPr/>
          <p:nvPr/>
        </p:nvSpPr>
        <p:spPr>
          <a:xfrm>
            <a:off x="3785616" y="3767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会话管理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566160" y="4224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按用户隔离 · 置顶 · 标题搜索 · “加载更早”分页 · 导出 Markdown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36208" y="3657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37376" y="3877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3" name="Text 31"/>
          <p:cNvSpPr/>
          <p:nvPr/>
        </p:nvSpPr>
        <p:spPr>
          <a:xfrm>
            <a:off x="6675120" y="3767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模型管理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455664" y="4224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多模型配置 + 连通性测试；管理员限定 Agent 可用模型白名单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25712" y="3657600"/>
            <a:ext cx="2761488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3877056"/>
            <a:ext cx="146304" cy="14630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7" name="Text 35"/>
          <p:cNvSpPr/>
          <p:nvPr/>
        </p:nvSpPr>
        <p:spPr>
          <a:xfrm>
            <a:off x="9564624" y="37673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演示模式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45168" y="422452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后端不可达自动降级（localStorage），页面永远打得开；亮暗双主题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五大业务场景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每个场景收窄意图与工具白名单——能做什么、不做什么，边界清晰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130552" cy="274320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4732" y="1627632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9" name="Text 7"/>
          <p:cNvSpPr/>
          <p:nvPr/>
        </p:nvSpPr>
        <p:spPr>
          <a:xfrm>
            <a:off x="1284732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69748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识别登记 TCode，提交真实后台作业；结果 READY 后可直接追问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34056" y="1371600"/>
            <a:ext cx="2130552" cy="274320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1588" y="1627632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14" name="Text 12"/>
          <p:cNvSpPr/>
          <p:nvPr/>
        </p:nvSpPr>
        <p:spPr>
          <a:xfrm>
            <a:off x="3561588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825496" y="224028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916936" y="269748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按能力目录与白名单工具做只读表分析，支持多行 SQL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10912" y="1371600"/>
            <a:ext cx="2130552" cy="274320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38444" y="1627632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19" name="Text 17"/>
          <p:cNvSpPr/>
          <p:nvPr/>
        </p:nvSpPr>
        <p:spPr>
          <a:xfrm>
            <a:off x="5838444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02352" y="224028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库存查询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193792" y="269748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物料候选、库存快照、收发统计、批次库存四个只读工具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7768" y="1371600"/>
            <a:ext cx="2130552" cy="274320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5300" y="1627632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4" name="Text 22"/>
          <p:cNvSpPr/>
          <p:nvPr/>
        </p:nvSpPr>
        <p:spPr>
          <a:xfrm>
            <a:off x="8115300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79208" y="224028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470648" y="269748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分页读取 Z/Y 源码或 tcode 主程序，可读表结构；不执行代码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564624" y="1371600"/>
            <a:ext cx="2130552" cy="2743200"/>
          </a:xfrm>
          <a:prstGeom prst="roundRect">
            <a:avLst>
              <a:gd name="adj" fmla="val 386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392156" y="1627632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9" name="Text 27"/>
          <p:cNvSpPr/>
          <p:nvPr/>
        </p:nvSpPr>
        <p:spPr>
          <a:xfrm>
            <a:off x="10392156" y="1627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656064" y="2240280"/>
            <a:ext cx="1947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7504" y="2697480"/>
            <a:ext cx="17647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保留混合路由的旧 Agent 会话模式，新会话亦可主动选择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434840"/>
            <a:ext cx="11274552" cy="1600200"/>
          </a:xfrm>
          <a:prstGeom prst="roundRect">
            <a:avLst>
              <a:gd name="adj" fmla="val 5143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590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普通对话与 Agent 的边界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31520" y="49377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对话页默认只做模型问答，不读程序、表结构或表数据；点名 SAP 对象时显示“转到 Agent”建议卡片。每个场景明确拒绝越界请求（如报表场景不做任意表分析），场景专属模型白名单优先于全局配置，后端硬校验、前端不可绕过。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底层原理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SAP Joule 同构的八步链路——差别在第三步：不用向量 RAG，由 ABAP 实时受控取数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9151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0239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输入问题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UI5 聊天框自然语言提问，普通对话 / Agent 模式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779994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11" name="Text 9"/>
          <p:cNvSpPr/>
          <p:nvPr/>
        </p:nvSpPr>
        <p:spPr>
          <a:xfrm>
            <a:off x="2388813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9901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(ABAP 后端)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94294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OData 接入：意图路由 · 权限控制 · 会话审计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89656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15" name="Text 13"/>
          <p:cNvSpPr/>
          <p:nvPr/>
        </p:nvSpPr>
        <p:spPr>
          <a:xfrm>
            <a:off x="3798475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9563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提取真实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业务上下文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03956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 / 表结构 / 样例数据 / 会话历史受控取数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99318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19" name="Text 17"/>
          <p:cNvSpPr/>
          <p:nvPr/>
        </p:nvSpPr>
        <p:spPr>
          <a:xfrm>
            <a:off x="5208137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9225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发送增强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13618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事实注入 + 领域知识卡 + 场景工具白名单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08980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23" name="Text 21"/>
          <p:cNvSpPr/>
          <p:nvPr/>
        </p:nvSpPr>
        <p:spPr>
          <a:xfrm>
            <a:off x="6617799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78887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选择最佳模型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生成响应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23280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企业网关 · AUTO 路由 · 故障降级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18641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27" name="Text 25"/>
          <p:cNvSpPr/>
          <p:nvPr/>
        </p:nvSpPr>
        <p:spPr>
          <a:xfrm>
            <a:off x="8027460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88548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受控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工具循环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532941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 JSON 协议 + 护栏校验，工具循环 ≤10 轮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828303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31" name="Text 29"/>
          <p:cNvSpPr/>
          <p:nvPr/>
        </p:nvSpPr>
        <p:spPr>
          <a:xfrm>
            <a:off x="9437122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98210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安全护栏验证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42603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只读 · 表权限 · 协议校验 · 全程审计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237965" y="2089404"/>
            <a:ext cx="173736" cy="201168"/>
          </a:xfrm>
          <a:prstGeom prst="rightArrow">
            <a:avLst/>
          </a:prstGeom>
          <a:solidFill>
            <a:srgbClr val="8FA9C4"/>
          </a:solidFill>
          <a:ln/>
        </p:spPr>
      </p:sp>
      <p:sp>
        <p:nvSpPr>
          <p:cNvPr id="35" name="Text 33"/>
          <p:cNvSpPr/>
          <p:nvPr/>
        </p:nvSpPr>
        <p:spPr>
          <a:xfrm>
            <a:off x="10846784" y="1298448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407872" y="1755648"/>
            <a:ext cx="124358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9D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聊天界面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输出答案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352265" y="2715768"/>
            <a:ext cx="13547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打字机 + SVG 图表 + Trace 回放，落库可追溯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7200" y="4160520"/>
            <a:ext cx="11274552" cy="1828800"/>
          </a:xfrm>
          <a:prstGeom prst="roundRect">
            <a:avLst>
              <a:gd name="adj" fmla="val 4500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3159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为什么第 3 步不用向量 RAG？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31520" y="46634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业务数据在系统内、结构强、变化快——与其离线切片建索引，不如让 ABAP 编排层每次实时受控取数：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读到的永远是当前真实数据，天然无召回过期问题；能读什么由能力目录、工具白名单和 S_TABU 权限共同决定，边界确定可审计。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98080" y="43434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80960" y="448056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业务数据源（全程只读）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MARA/MARC 物料 · MARD/MCHB 库存批次 · MSEG 凭证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能力目录 Z 表 · ABAP 源码/DDIC · 后台报表作业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安全与权限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认证、授权、数据访问、审计四层防线，全部继承 SAP 现行体系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1271016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双层认证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HTTP Basic（SU01 账密）+ 应用层授权表 ZAI_CHAT_USER 二次判定；应用零密码存储，锁定/复杂度/改密周期全部继承 SU01 策略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两级角色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ADMIN / USER 前端隐藏入口 + 后端 v8_require_admin 硬校验，绕过前端直调接口同样被拒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3209544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只读护栏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仅单条 SELECT、黑名单语句拒绝、注释/分隔符禁用；每张表过 S_TABU_DIS/S_TABU_NAM 权限，能读哪些表由权限组决定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4178808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受控工具白名单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只能调用注册表内的只读工具；场景收窄 + 模型白名单 + 严格 JSON 协议校验，未注册一律拒绝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" y="5175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5148072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全程审计</a:t>
            </a:r>
            <a:endParaRPr lang="en-US" sz="13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会话、消息、Agent 每轮步骤与工具调用结果全量落库（ZAI_CHAT_MSG / ZAI_AGENT_STEP），可回放可追溯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9600" y="1298448"/>
            <a:ext cx="3502152" cy="4754880"/>
          </a:xfrm>
          <a:prstGeom prst="roundRect">
            <a:avLst>
              <a:gd name="adj" fmla="val 2611"/>
            </a:avLst>
          </a:prstGeom>
          <a:solidFill>
            <a:srgbClr val="133559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600200"/>
            <a:ext cx="2971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数据不出内网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UI5 → OData → ABAP → 企业 LLM 网关，全链路运行在 SAP 服务器与企业内网之内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业务数据全程只读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应用自身仅写 ZAI_* 配置与审计表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2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问答与工具调用全量留痕，可回放、可追溯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版本演进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从内网实装到 Agent 场景化：一个月内完成的六次重要迭代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0"/>
          </a:xfrm>
          <a:prstGeom prst="line">
            <a:avLst/>
          </a:prstGeom>
          <a:noFill/>
          <a:ln w="254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" y="2734056"/>
            <a:ext cx="201168" cy="201168"/>
          </a:xfrm>
          <a:prstGeom prst="ellipse">
            <a:avLst/>
          </a:prstGeom>
          <a:solidFill>
            <a:srgbClr val="0A6E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61872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09-05  内网实装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V8.3 + 后端 V8.4；BSP 全量部署约 8600 文件，全链路验证通过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21803" y="2734056"/>
            <a:ext cx="201168" cy="201168"/>
          </a:xfrm>
          <a:prstGeom prst="ellipse">
            <a:avLst/>
          </a:prstGeom>
          <a:solidFill>
            <a:srgbClr val="0A6E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62267" y="315468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10-02  数据分析 V1.3.0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sap_data_analysis 能力目录 + SVG 图表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904110" y="2734056"/>
            <a:ext cx="201168" cy="201168"/>
          </a:xfrm>
          <a:prstGeom prst="ellipse">
            <a:avLst/>
          </a:prstGeom>
          <a:solidFill>
            <a:srgbClr val="0A6E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44574" y="1261872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10-06  后端 V13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 SQL 规范化 + 通用 Agent（工具注册表/护栏/路由）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86417" y="2734056"/>
            <a:ext cx="201168" cy="201168"/>
          </a:xfrm>
          <a:prstGeom prst="ellipse">
            <a:avLst/>
          </a:prstGeom>
          <a:solidFill>
            <a:srgbClr val="0A6E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6881" y="315468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10-07~09  V14/V15 + 前端 V16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多业务任务与受控报表分析；保留字修复；Gale-SAP 重设计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68724" y="2734056"/>
            <a:ext cx="201168" cy="201168"/>
          </a:xfrm>
          <a:prstGeom prst="ellipse">
            <a:avLst/>
          </a:prstGeom>
          <a:solidFill>
            <a:srgbClr val="0A6E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09188" y="1261872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10-11  A/B 批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五场景 + 模型白名单 + 管理员测评（29 题）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451031" y="2734056"/>
            <a:ext cx="201168" cy="201168"/>
          </a:xfrm>
          <a:prstGeom prst="ellipse">
            <a:avLst/>
          </a:prstGeom>
          <a:solidFill>
            <a:srgbClr val="F0AB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14255" y="315468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10-12  C 批 + V2.0 整理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会话置顶/分页/搜索 + 护栏修复；控制器模块化 + i18n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892040"/>
            <a:ext cx="11274552" cy="1143000"/>
          </a:xfrm>
          <a:prstGeom prst="roundRect">
            <a:avLst>
              <a:gd name="adj" fmla="val 7200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当前状态（2026-10-12）：A/B/C 三批改动已完成本地核对、待一起部署上线（C 批文件已含 A/B 内容）；部署对象与激活顺序以 backend-abap/00_对象清单与部署顺序_20261011.md 为准。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如何上手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三类角色各取所需：用户直接对话，管理员先测再改，实施按清单部署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639312" cy="3108960"/>
          </a:xfrm>
          <a:prstGeom prst="roundRect">
            <a:avLst>
              <a:gd name="adj" fmla="val 2647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36192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057400"/>
            <a:ext cx="31821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打开前端 URL，SU01 账密登录（需已开通）</a:t>
            </a:r>
            <a:endParaRPr lang="en-US" sz="10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对话页直接提问，或进入 Agent 选场景</a:t>
            </a:r>
            <a:endParaRPr lang="en-US" sz="10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会话置顶/搜索/分页管理，导出 Markdown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371600"/>
            <a:ext cx="3639312" cy="3108960"/>
          </a:xfrm>
          <a:prstGeom prst="roundRect">
            <a:avLst>
              <a:gd name="adj" fmla="val 2647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98848" y="1536192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98848" y="2057400"/>
            <a:ext cx="31821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设置页维护模型、角色、泡泡、用户开通</a:t>
            </a:r>
            <a:endParaRPr lang="en-US" sz="10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限定 Agent 可用模型白名单</a:t>
            </a:r>
            <a:endParaRPr lang="en-US" sz="10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先跑 Agent 测评（29 题）存基线，改版后对比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83296" y="1371600"/>
            <a:ext cx="3639312" cy="3108960"/>
          </a:xfrm>
          <a:prstGeom prst="roundRect">
            <a:avLst>
              <a:gd name="adj" fmla="val 2647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1896" y="1536192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 / Basis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11896" y="2057400"/>
            <a:ext cx="31821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后端：SE11→SEGW→SE24→SM59→SICF 按 03 文档</a:t>
            </a:r>
            <a:endParaRPr lang="en-US" sz="10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前端：构建打包 SE38 上传（全量/增量）</a:t>
            </a:r>
            <a:endParaRPr lang="en-US" sz="10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A/B/C 三批一起部署，按对象清单核版本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800600"/>
            <a:ext cx="11274552" cy="1280160"/>
          </a:xfrm>
          <a:prstGeom prst="roundRect">
            <a:avLst>
              <a:gd name="adj" fmla="val 6429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9834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文档地图：</a:t>
            </a: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 项目说明（本文）· 01 后端开发 · 02 前端开发 · 03 后端实施 · 04 前端实施 ｜ 本地运行：npm start（8080，离线可用）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原则：先测，再改——每次后端激活前后各跑一次 Agent 测评，通过率与耗时差异随发布记录归档。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AI 对话助手 · 项目介绍 V2.0</dc:title>
  <dc:subject>PptxGenJS Presentation</dc:subject>
  <dc:creator>SAP AI 对话助手项目组</dc:creator>
  <cp:lastModifiedBy>SAP AI 对话助手项目组</cp:lastModifiedBy>
  <cp:revision>1</cp:revision>
  <dcterms:created xsi:type="dcterms:W3CDTF">2026-10-11T17:27:29Z</dcterms:created>
  <dcterms:modified xsi:type="dcterms:W3CDTF">2026-10-11T17:27:29Z</dcterms:modified>
</cp:coreProperties>
</file>