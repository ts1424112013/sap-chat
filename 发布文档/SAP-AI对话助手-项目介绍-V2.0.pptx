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开场：四个维度——技术体系、业务场景与评价、不足、用处与方向。四个数字：5 场景、9 只读工具、22 接口、数据零出内网。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三层架构从上往下讲：前端零安装、后端 ABAP 全管控、模型层配置表驱动。右侧部署四要点：同走 SE09、增量小、老系统实测 755、零公网依赖。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模型能力三支柱：接入层（配置驱动+降级+白名单）、协议层（严格 JSON+受控循环+防注入）、上下文层（无 RAG、实时取数、审计闭环）。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通俗过一遍五场景+典型问法。强调边界规则：宁可拒答也不越界，这是企业场景的信任基础。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逐条念分并给理由：分高的是边界窄而可信的场景；分低的共同原因是依赖登记清单与网关兼容。总评 8.3：可信长板、智能深度短板。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六短板分三类：体验（无真流式）、能力（规则路由、无 RAG）、工程（手工部署、T-07、单系统）。都已知、都有对应改进方向（下一页）。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左侧五类价值按角色讲；右侧六方向与短板对应：流式→体验、RAG/目录→能力、评测/写操作/联邦→工程与范围。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收尾一句话+三步走：上线→测基线→按方向迭代。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1005840"/>
            <a:ext cx="502920" cy="502920"/>
          </a:xfrm>
          <a:prstGeom prst="ellipse">
            <a:avLst/>
          </a:prstGeom>
          <a:solidFill>
            <a:srgbClr val="F0AB00"/>
          </a:solidFill>
          <a:ln/>
        </p:spPr>
      </p:sp>
      <p:sp>
        <p:nvSpPr>
          <p:cNvPr id="3" name="Shape 1"/>
          <p:cNvSpPr/>
          <p:nvPr/>
        </p:nvSpPr>
        <p:spPr>
          <a:xfrm>
            <a:off x="969264" y="1005840"/>
            <a:ext cx="502920" cy="502920"/>
          </a:xfrm>
          <a:prstGeom prst="ellipse">
            <a:avLst/>
          </a:prstGeom>
          <a:solidFill>
            <a:srgbClr val="0A6ED1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783080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1335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SAP AI 对话助手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685800" y="2743200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A6E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项目介绍 · V2.0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85800" y="34747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四个维度看这个项目：技术体系（前后端与模型能力）· 业务场景（功能、打分与评价）· 目前的不足 · 用处与后期研究方向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85800" y="4343400"/>
            <a:ext cx="2606040" cy="1234440"/>
          </a:xfrm>
          <a:prstGeom prst="roundRect">
            <a:avLst>
              <a:gd name="adj" fmla="val 5926"/>
            </a:avLst>
          </a:prstGeom>
          <a:solidFill>
            <a:srgbClr val="F7FAFE"/>
          </a:solidFill>
          <a:ln w="12700">
            <a:solidFill>
              <a:srgbClr val="C9D6E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4480560"/>
            <a:ext cx="2240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A6E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大</a:t>
            </a:r>
            <a:endParaRPr lang="en-US" sz="26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业务场景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3493008" y="4343400"/>
            <a:ext cx="2606040" cy="1234440"/>
          </a:xfrm>
          <a:prstGeom prst="roundRect">
            <a:avLst>
              <a:gd name="adj" fmla="val 5926"/>
            </a:avLst>
          </a:prstGeom>
          <a:solidFill>
            <a:srgbClr val="F7FAFE"/>
          </a:solidFill>
          <a:ln w="12700">
            <a:solidFill>
              <a:srgbClr val="C9D6E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75888" y="4480560"/>
            <a:ext cx="2240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A6E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 个</a:t>
            </a:r>
            <a:endParaRPr lang="en-US" sz="26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白名单只读工具</a:t>
            </a:r>
            <a:endParaRPr lang="en-US" sz="2600" dirty="0"/>
          </a:p>
        </p:txBody>
      </p:sp>
      <p:sp>
        <p:nvSpPr>
          <p:cNvPr id="11" name="Shape 9"/>
          <p:cNvSpPr/>
          <p:nvPr/>
        </p:nvSpPr>
        <p:spPr>
          <a:xfrm>
            <a:off x="6300216" y="4343400"/>
            <a:ext cx="2606040" cy="1234440"/>
          </a:xfrm>
          <a:prstGeom prst="roundRect">
            <a:avLst>
              <a:gd name="adj" fmla="val 5926"/>
            </a:avLst>
          </a:prstGeom>
          <a:solidFill>
            <a:srgbClr val="F7FAFE"/>
          </a:solidFill>
          <a:ln w="12700">
            <a:solidFill>
              <a:srgbClr val="C9D6E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83096" y="4480560"/>
            <a:ext cx="2240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A6E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 个</a:t>
            </a:r>
            <a:endParaRPr lang="en-US" sz="26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OData 接口</a:t>
            </a:r>
            <a:endParaRPr lang="en-US" sz="2600" dirty="0"/>
          </a:p>
        </p:txBody>
      </p:sp>
      <p:sp>
        <p:nvSpPr>
          <p:cNvPr id="13" name="Shape 11"/>
          <p:cNvSpPr/>
          <p:nvPr/>
        </p:nvSpPr>
        <p:spPr>
          <a:xfrm>
            <a:off x="9107424" y="4343400"/>
            <a:ext cx="2606040" cy="1234440"/>
          </a:xfrm>
          <a:prstGeom prst="roundRect">
            <a:avLst>
              <a:gd name="adj" fmla="val 5926"/>
            </a:avLst>
          </a:prstGeom>
          <a:solidFill>
            <a:srgbClr val="F7FAFE"/>
          </a:solidFill>
          <a:ln w="12700">
            <a:solidFill>
              <a:srgbClr val="C9D6E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290304" y="4480560"/>
            <a:ext cx="2240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A6E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 次</a:t>
            </a:r>
            <a:endParaRPr lang="en-US" sz="26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业务数据出内网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685800" y="6263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文档版本 V2.0 ｜ 2026-10-13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9966960" y="62636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i="1" dirty="0">
                <a:solidFill>
                  <a:srgbClr val="0A6E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A事业群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237744" cy="237744"/>
          </a:xfrm>
          <a:prstGeom prst="ellipse">
            <a:avLst/>
          </a:prstGeom>
          <a:solidFill>
            <a:srgbClr val="F0AB00"/>
          </a:solidFill>
          <a:ln/>
        </p:spPr>
      </p:sp>
      <p:sp>
        <p:nvSpPr>
          <p:cNvPr id="3" name="Shape 1"/>
          <p:cNvSpPr/>
          <p:nvPr/>
        </p:nvSpPr>
        <p:spPr>
          <a:xfrm>
            <a:off x="594360" y="347472"/>
            <a:ext cx="237744" cy="237744"/>
          </a:xfrm>
          <a:prstGeom prst="ellipse">
            <a:avLst/>
          </a:prstGeom>
          <a:solidFill>
            <a:srgbClr val="0A6ED1"/>
          </a:solidFill>
          <a:ln/>
        </p:spPr>
      </p:sp>
      <p:sp>
        <p:nvSpPr>
          <p:cNvPr id="4" name="Text 2"/>
          <p:cNvSpPr/>
          <p:nvPr/>
        </p:nvSpPr>
        <p:spPr>
          <a:xfrm>
            <a:off x="960120" y="219456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335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技术体系 ① · 前后端架构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978408" y="71323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三层形态：浏览器里的 UI5 → SAP 服务器里的 ABAP → 企业内网里的大模型网关，全链路不出内网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10177272" y="29260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i="1" dirty="0">
                <a:solidFill>
                  <a:srgbClr val="0A6E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A事业群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763524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C9D6E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1499616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A6E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前端 · 浏览器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58368" y="1792224"/>
            <a:ext cx="7232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335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SAP UI5（BSP 应用 ZAI_CHAT_DEMO1）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658368" y="2176272"/>
            <a:ext cx="72329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自带 UI5 1.130 运行时，Chrome/Edge 免安装即可用；打字机渲染、原生 SVG 图表、亮暗双主题；后端不可达时自动降级演示模式，页面永远打得开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174236" y="2830068"/>
            <a:ext cx="201168" cy="173736"/>
          </a:xfrm>
          <a:prstGeom prst="downArrow">
            <a:avLst/>
          </a:prstGeom>
          <a:solidFill>
            <a:srgbClr val="8FA9C4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3044952"/>
            <a:ext cx="7635240" cy="1417320"/>
          </a:xfrm>
          <a:prstGeom prst="roundRect">
            <a:avLst>
              <a:gd name="adj" fmla="val 5806"/>
            </a:avLst>
          </a:prstGeom>
          <a:solidFill>
            <a:srgbClr val="F2F7FD"/>
          </a:solidFill>
          <a:ln w="19050">
            <a:solidFill>
              <a:srgbClr val="0A6ED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8368" y="3172968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A6E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后端 · SAP 服务器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58368" y="3465576"/>
            <a:ext cx="7232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335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ABAP OData 服务（ZAI_CHAT_SRV · 22 个接口）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658368" y="3849624"/>
            <a:ext cx="72329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网关类分发请求 → 对话/Agent 编排类做路由与管控 → 取数类执行白名单只读工具 → LLM 客户端出网关；配置、会话、审计全部落在 ZAI_* 表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174236" y="4503420"/>
            <a:ext cx="201168" cy="173736"/>
          </a:xfrm>
          <a:prstGeom prst="downArrow">
            <a:avLst/>
          </a:prstGeom>
          <a:solidFill>
            <a:srgbClr val="8FA9C4"/>
          </a:solidFill>
          <a:ln/>
        </p:spPr>
      </p:sp>
      <p:sp>
        <p:nvSpPr>
          <p:cNvPr id="17" name="Shape 15"/>
          <p:cNvSpPr/>
          <p:nvPr/>
        </p:nvSpPr>
        <p:spPr>
          <a:xfrm>
            <a:off x="457200" y="4718304"/>
            <a:ext cx="763524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C9D6E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8368" y="4846320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A6E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模型层 · 企业内网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58368" y="5138928"/>
            <a:ext cx="7232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335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OpenAI 兼容网关 / 本地 Ollama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658368" y="5522976"/>
            <a:ext cx="72329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SM59 目的地 ZAI_LLM_AFIONE；用哪个模型由配置表决定，加模型=加一行配置，代码零改动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8412480" y="1371600"/>
            <a:ext cx="3322015" cy="4745736"/>
          </a:xfrm>
          <a:prstGeom prst="roundRect">
            <a:avLst>
              <a:gd name="adj" fmla="val 2477"/>
            </a:avLst>
          </a:prstGeom>
          <a:solidFill>
            <a:srgbClr val="133559"/>
          </a:solidFill>
          <a:ln/>
        </p:spPr>
      </p:sp>
      <p:sp>
        <p:nvSpPr>
          <p:cNvPr id="22" name="Text 20"/>
          <p:cNvSpPr/>
          <p:nvPr/>
        </p:nvSpPr>
        <p:spPr>
          <a:xfrm>
            <a:off x="8668512" y="1600200"/>
            <a:ext cx="2809951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部署与运维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8668512" y="2148840"/>
            <a:ext cx="2809951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F0AB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传输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8D6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前后端同走 SE09 + STMS，Basis 无新增学习成本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668512" y="3118104"/>
            <a:ext cx="2809951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F0AB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增量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8D6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日常前端改动只有十来个文件，一两分钟传完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8668512" y="4087368"/>
            <a:ext cx="2809951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F0AB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环境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8D6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SAP_BASIS 755（实测），client 470，无额外服务器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8668512" y="5056632"/>
            <a:ext cx="2809951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F0AB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依赖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8D6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只依赖 ICF 标准 UI5 节点，公网 CDN 零依赖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237744" cy="237744"/>
          </a:xfrm>
          <a:prstGeom prst="ellipse">
            <a:avLst/>
          </a:prstGeom>
          <a:solidFill>
            <a:srgbClr val="F0AB00"/>
          </a:solidFill>
          <a:ln/>
        </p:spPr>
      </p:sp>
      <p:sp>
        <p:nvSpPr>
          <p:cNvPr id="3" name="Shape 1"/>
          <p:cNvSpPr/>
          <p:nvPr/>
        </p:nvSpPr>
        <p:spPr>
          <a:xfrm>
            <a:off x="594360" y="347472"/>
            <a:ext cx="237744" cy="237744"/>
          </a:xfrm>
          <a:prstGeom prst="ellipse">
            <a:avLst/>
          </a:prstGeom>
          <a:solidFill>
            <a:srgbClr val="0A6ED1"/>
          </a:solidFill>
          <a:ln/>
        </p:spPr>
      </p:sp>
      <p:sp>
        <p:nvSpPr>
          <p:cNvPr id="4" name="Text 2"/>
          <p:cNvSpPr/>
          <p:nvPr/>
        </p:nvSpPr>
        <p:spPr>
          <a:xfrm>
            <a:off x="960120" y="219456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335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技术体系 ② · 模型能力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978408" y="71323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模型怎么接、Agent 怎么被约束、上下文怎么给——三件事决定了这套系统的能力上限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10177272" y="29260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i="1" dirty="0">
                <a:solidFill>
                  <a:srgbClr val="0A6E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A事业群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3639312" cy="3977640"/>
          </a:xfrm>
          <a:prstGeom prst="roundRect">
            <a:avLst>
              <a:gd name="adj" fmla="val 2261"/>
            </a:avLst>
          </a:prstGeom>
          <a:solidFill>
            <a:srgbClr val="F7FAFE"/>
          </a:solidFill>
          <a:ln w="12700">
            <a:solidFill>
              <a:srgbClr val="C9D6E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1517904"/>
            <a:ext cx="31821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1335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模型接入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704088" y="2084832"/>
            <a:ext cx="82296" cy="82296"/>
          </a:xfrm>
          <a:prstGeom prst="ellipse">
            <a:avLst/>
          </a:prstGeom>
          <a:solidFill>
            <a:srgbClr val="F0AB00"/>
          </a:solidFill>
          <a:ln/>
        </p:spPr>
      </p:sp>
      <p:sp>
        <p:nvSpPr>
          <p:cNvPr id="10" name="Text 8"/>
          <p:cNvSpPr/>
          <p:nvPr/>
        </p:nvSpPr>
        <p:spPr>
          <a:xfrm>
            <a:off x="896112" y="1975104"/>
            <a:ext cx="295351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4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双协议接入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OpenAI 兼容网关 + 本地 Ollama，按行配置即插即用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04088" y="2907792"/>
            <a:ext cx="82296" cy="82296"/>
          </a:xfrm>
          <a:prstGeom prst="ellipse">
            <a:avLst/>
          </a:prstGeom>
          <a:solidFill>
            <a:srgbClr val="F0AB00"/>
          </a:solidFill>
          <a:ln/>
        </p:spPr>
      </p:sp>
      <p:sp>
        <p:nvSpPr>
          <p:cNvPr id="12" name="Text 10"/>
          <p:cNvSpPr/>
          <p:nvPr/>
        </p:nvSpPr>
        <p:spPr>
          <a:xfrm>
            <a:off x="896112" y="2798064"/>
            <a:ext cx="295351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4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智能路由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ModelId=AUTO 按任务特征自动选模型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04088" y="3730752"/>
            <a:ext cx="82296" cy="82296"/>
          </a:xfrm>
          <a:prstGeom prst="ellipse">
            <a:avLst/>
          </a:prstGeom>
          <a:solidFill>
            <a:srgbClr val="F0AB00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" y="3621024"/>
            <a:ext cx="295351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4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故障降级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主模型失败自动切换备用，最多再试 2 个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04088" y="4553712"/>
            <a:ext cx="82296" cy="82296"/>
          </a:xfrm>
          <a:prstGeom prst="ellipse">
            <a:avLst/>
          </a:prstGeom>
          <a:solidFill>
            <a:srgbClr val="F0AB00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" y="4443984"/>
            <a:ext cx="295351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4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白名单管控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管理员限定哪些模型允许跑 Agent，场景键优先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270248" y="1371600"/>
            <a:ext cx="3639312" cy="3977640"/>
          </a:xfrm>
          <a:prstGeom prst="roundRect">
            <a:avLst>
              <a:gd name="adj" fmla="val 2261"/>
            </a:avLst>
          </a:prstGeom>
          <a:solidFill>
            <a:srgbClr val="F7FAFE"/>
          </a:solidFill>
          <a:ln w="12700">
            <a:solidFill>
              <a:srgbClr val="C9D6E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98848" y="1517904"/>
            <a:ext cx="31821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1335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协议</a:t>
            </a:r>
            <a:endParaRPr lang="en-US" sz="1550" dirty="0"/>
          </a:p>
        </p:txBody>
      </p:sp>
      <p:sp>
        <p:nvSpPr>
          <p:cNvPr id="19" name="Shape 17"/>
          <p:cNvSpPr/>
          <p:nvPr/>
        </p:nvSpPr>
        <p:spPr>
          <a:xfrm>
            <a:off x="4517136" y="2084832"/>
            <a:ext cx="82296" cy="82296"/>
          </a:xfrm>
          <a:prstGeom prst="ellipse">
            <a:avLst/>
          </a:prstGeom>
          <a:solidFill>
            <a:srgbClr val="F0AB00"/>
          </a:solidFill>
          <a:ln/>
        </p:spPr>
      </p:sp>
      <p:sp>
        <p:nvSpPr>
          <p:cNvPr id="20" name="Text 18"/>
          <p:cNvSpPr/>
          <p:nvPr/>
        </p:nvSpPr>
        <p:spPr>
          <a:xfrm>
            <a:off x="4709160" y="1975104"/>
            <a:ext cx="295351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4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严格 JSON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每轮只输出一行 tool/final JSON，护栏类强校验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517136" y="2907792"/>
            <a:ext cx="82296" cy="82296"/>
          </a:xfrm>
          <a:prstGeom prst="ellipse">
            <a:avLst/>
          </a:prstGeom>
          <a:solidFill>
            <a:srgbClr val="F0AB00"/>
          </a:solidFill>
          <a:ln/>
        </p:spPr>
      </p:sp>
      <p:sp>
        <p:nvSpPr>
          <p:cNvPr id="22" name="Text 20"/>
          <p:cNvSpPr/>
          <p:nvPr/>
        </p:nvSpPr>
        <p:spPr>
          <a:xfrm>
            <a:off x="4709160" y="2798064"/>
            <a:ext cx="295351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4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受控循环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最多 10 轮，超出即收口，不会无限打转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517136" y="3730752"/>
            <a:ext cx="82296" cy="82296"/>
          </a:xfrm>
          <a:prstGeom prst="ellipse">
            <a:avLst/>
          </a:prstGeom>
          <a:solidFill>
            <a:srgbClr val="F0AB00"/>
          </a:solidFill>
          <a:ln/>
        </p:spPr>
      </p:sp>
      <p:sp>
        <p:nvSpPr>
          <p:cNvPr id="24" name="Text 22"/>
          <p:cNvSpPr/>
          <p:nvPr/>
        </p:nvSpPr>
        <p:spPr>
          <a:xfrm>
            <a:off x="4709160" y="3621024"/>
            <a:ext cx="295351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4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防注入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工具结果包标签回填，数据不会被当指令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517136" y="4553712"/>
            <a:ext cx="82296" cy="82296"/>
          </a:xfrm>
          <a:prstGeom prst="ellipse">
            <a:avLst/>
          </a:prstGeom>
          <a:solidFill>
            <a:srgbClr val="F0AB00"/>
          </a:solidFill>
          <a:ln/>
        </p:spPr>
      </p:sp>
      <p:sp>
        <p:nvSpPr>
          <p:cNvPr id="26" name="Text 24"/>
          <p:cNvSpPr/>
          <p:nvPr/>
        </p:nvSpPr>
        <p:spPr>
          <a:xfrm>
            <a:off x="4709160" y="4443984"/>
            <a:ext cx="295351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4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只读工具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 个白名单工具：库存四件套、SQL、取数、源码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8083296" y="1371600"/>
            <a:ext cx="3639312" cy="3977640"/>
          </a:xfrm>
          <a:prstGeom prst="roundRect">
            <a:avLst>
              <a:gd name="adj" fmla="val 2261"/>
            </a:avLst>
          </a:prstGeom>
          <a:solidFill>
            <a:srgbClr val="F2F7FD"/>
          </a:solidFill>
          <a:ln w="19050">
            <a:solidFill>
              <a:srgbClr val="0A6ED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311896" y="1517904"/>
            <a:ext cx="31821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1335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上下文策略</a:t>
            </a:r>
            <a:endParaRPr lang="en-US" sz="1550" dirty="0"/>
          </a:p>
        </p:txBody>
      </p:sp>
      <p:sp>
        <p:nvSpPr>
          <p:cNvPr id="29" name="Shape 27"/>
          <p:cNvSpPr/>
          <p:nvPr/>
        </p:nvSpPr>
        <p:spPr>
          <a:xfrm>
            <a:off x="8330184" y="2084832"/>
            <a:ext cx="82296" cy="82296"/>
          </a:xfrm>
          <a:prstGeom prst="ellipse">
            <a:avLst/>
          </a:prstGeom>
          <a:solidFill>
            <a:srgbClr val="F0AB00"/>
          </a:solidFill>
          <a:ln/>
        </p:spPr>
      </p:sp>
      <p:sp>
        <p:nvSpPr>
          <p:cNvPr id="30" name="Text 28"/>
          <p:cNvSpPr/>
          <p:nvPr/>
        </p:nvSpPr>
        <p:spPr>
          <a:xfrm>
            <a:off x="8522208" y="1975104"/>
            <a:ext cx="295351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4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不用向量 RAG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知识不建索引，回答前实时取真数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8330184" y="2907792"/>
            <a:ext cx="82296" cy="82296"/>
          </a:xfrm>
          <a:prstGeom prst="ellipse">
            <a:avLst/>
          </a:prstGeom>
          <a:solidFill>
            <a:srgbClr val="F0AB00"/>
          </a:solidFill>
          <a:ln/>
        </p:spPr>
      </p:sp>
      <p:sp>
        <p:nvSpPr>
          <p:cNvPr id="32" name="Text 30"/>
          <p:cNvSpPr/>
          <p:nvPr/>
        </p:nvSpPr>
        <p:spPr>
          <a:xfrm>
            <a:off x="8522208" y="2798064"/>
            <a:ext cx="295351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4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事实注入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源码、表结构、样例数据、领域知识卡按需入提示词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8330184" y="3730752"/>
            <a:ext cx="82296" cy="82296"/>
          </a:xfrm>
          <a:prstGeom prst="ellipse">
            <a:avLst/>
          </a:prstGeom>
          <a:solidFill>
            <a:srgbClr val="F0AB00"/>
          </a:solidFill>
          <a:ln/>
        </p:spPr>
      </p:sp>
      <p:sp>
        <p:nvSpPr>
          <p:cNvPr id="34" name="Text 32"/>
          <p:cNvSpPr/>
          <p:nvPr/>
        </p:nvSpPr>
        <p:spPr>
          <a:xfrm>
            <a:off x="8522208" y="3621024"/>
            <a:ext cx="295351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4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历史受控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只带最近几轮对话，超长历史按字数截断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8330184" y="4553712"/>
            <a:ext cx="82296" cy="82296"/>
          </a:xfrm>
          <a:prstGeom prst="ellipse">
            <a:avLst/>
          </a:prstGeom>
          <a:solidFill>
            <a:srgbClr val="F0AB00"/>
          </a:solidFill>
          <a:ln/>
        </p:spPr>
      </p:sp>
      <p:sp>
        <p:nvSpPr>
          <p:cNvPr id="36" name="Text 34"/>
          <p:cNvSpPr/>
          <p:nvPr/>
        </p:nvSpPr>
        <p:spPr>
          <a:xfrm>
            <a:off x="8522208" y="4443984"/>
            <a:ext cx="295351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4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审计闭环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每轮工具调用与结果全量落库，可回放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457200" y="5577840"/>
            <a:ext cx="11274552" cy="777240"/>
          </a:xfrm>
          <a:prstGeom prst="roundRect">
            <a:avLst>
              <a:gd name="adj" fmla="val 10588"/>
            </a:avLst>
          </a:prstGeom>
          <a:solidFill>
            <a:srgbClr val="FFF8E6"/>
          </a:solidFill>
          <a:ln w="12700">
            <a:solidFill>
              <a:srgbClr val="EFD9A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31520" y="5687568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8A5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一句话总结：</a:t>
            </a:r>
            <a:r>
              <a:rPr lang="en-US" sz="1200" dirty="0">
                <a:solidFill>
                  <a:srgbClr val="24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把“知识”放在 SAP 系统里而不是索引库里——模型每次答前先受控取真数，能读什么由白名单和表权限决定，答案可追溯到落库的每一步。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237744" cy="237744"/>
          </a:xfrm>
          <a:prstGeom prst="ellipse">
            <a:avLst/>
          </a:prstGeom>
          <a:solidFill>
            <a:srgbClr val="F0AB00"/>
          </a:solidFill>
          <a:ln/>
        </p:spPr>
      </p:sp>
      <p:sp>
        <p:nvSpPr>
          <p:cNvPr id="3" name="Shape 1"/>
          <p:cNvSpPr/>
          <p:nvPr/>
        </p:nvSpPr>
        <p:spPr>
          <a:xfrm>
            <a:off x="594360" y="347472"/>
            <a:ext cx="237744" cy="237744"/>
          </a:xfrm>
          <a:prstGeom prst="ellipse">
            <a:avLst/>
          </a:prstGeom>
          <a:solidFill>
            <a:srgbClr val="0A6ED1"/>
          </a:solidFill>
          <a:ln/>
        </p:spPr>
      </p:sp>
      <p:sp>
        <p:nvSpPr>
          <p:cNvPr id="4" name="Text 2"/>
          <p:cNvSpPr/>
          <p:nvPr/>
        </p:nvSpPr>
        <p:spPr>
          <a:xfrm>
            <a:off x="960120" y="219456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335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业务场景 ① · 它能干什么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978408" y="71323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五个场景，说人话——每个都配一句典型问法，照着问就能用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10177272" y="29260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i="1" dirty="0">
                <a:solidFill>
                  <a:srgbClr val="0A6E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A事业群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2130552" cy="3246120"/>
          </a:xfrm>
          <a:prstGeom prst="roundRect">
            <a:avLst>
              <a:gd name="adj" fmla="val 3863"/>
            </a:avLst>
          </a:prstGeom>
          <a:solidFill>
            <a:srgbClr val="FFFFFF"/>
          </a:solidFill>
          <a:ln w="12700">
            <a:solidFill>
              <a:srgbClr val="C9D6E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284732" y="1609344"/>
            <a:ext cx="475488" cy="475488"/>
          </a:xfrm>
          <a:prstGeom prst="ellipse">
            <a:avLst/>
          </a:prstGeom>
          <a:solidFill>
            <a:srgbClr val="0A6ED1"/>
          </a:solidFill>
          <a:ln/>
        </p:spPr>
      </p:sp>
      <p:sp>
        <p:nvSpPr>
          <p:cNvPr id="9" name="Text 7"/>
          <p:cNvSpPr/>
          <p:nvPr/>
        </p:nvSpPr>
        <p:spPr>
          <a:xfrm>
            <a:off x="1284732" y="16093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48640" y="2194560"/>
            <a:ext cx="1947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335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普通对话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0080" y="2651760"/>
            <a:ext cx="176479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内网版 ChatGPT：写代码、改代码、翻译、写文档，啥都能聊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40080" y="3749040"/>
            <a:ext cx="1764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i="1" dirty="0">
                <a:solidFill>
                  <a:srgbClr val="0A6E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“帮我把这段内表循环改成新语法”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2734056" y="1371600"/>
            <a:ext cx="2130552" cy="3246120"/>
          </a:xfrm>
          <a:prstGeom prst="roundRect">
            <a:avLst>
              <a:gd name="adj" fmla="val 3863"/>
            </a:avLst>
          </a:prstGeom>
          <a:solidFill>
            <a:srgbClr val="FFFFFF"/>
          </a:solidFill>
          <a:ln w="12700">
            <a:solidFill>
              <a:srgbClr val="C9D6E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561588" y="1609344"/>
            <a:ext cx="475488" cy="475488"/>
          </a:xfrm>
          <a:prstGeom prst="ellipse">
            <a:avLst/>
          </a:prstGeom>
          <a:solidFill>
            <a:srgbClr val="0A6ED1"/>
          </a:solidFill>
          <a:ln/>
        </p:spPr>
      </p:sp>
      <p:sp>
        <p:nvSpPr>
          <p:cNvPr id="15" name="Text 13"/>
          <p:cNvSpPr/>
          <p:nvPr/>
        </p:nvSpPr>
        <p:spPr>
          <a:xfrm>
            <a:off x="3561588" y="16093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2825496" y="2194560"/>
            <a:ext cx="1947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335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代码分析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2916936" y="2651760"/>
            <a:ext cx="176479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丢一个程序名，它自己去读源码，讲清楚逻辑和字段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2916936" y="3749040"/>
            <a:ext cx="1764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i="1" dirty="0">
                <a:solidFill>
                  <a:srgbClr val="0A6E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“ZRMM_IDP_0702 这个程序是干嘛的？”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010912" y="1371600"/>
            <a:ext cx="2130552" cy="3246120"/>
          </a:xfrm>
          <a:prstGeom prst="roundRect">
            <a:avLst>
              <a:gd name="adj" fmla="val 3863"/>
            </a:avLst>
          </a:prstGeom>
          <a:solidFill>
            <a:srgbClr val="FFFFFF"/>
          </a:solidFill>
          <a:ln w="12700">
            <a:solidFill>
              <a:srgbClr val="C9D6E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838444" y="1609344"/>
            <a:ext cx="475488" cy="475488"/>
          </a:xfrm>
          <a:prstGeom prst="ellipse">
            <a:avLst/>
          </a:prstGeom>
          <a:solidFill>
            <a:srgbClr val="0A6ED1"/>
          </a:solidFill>
          <a:ln/>
        </p:spPr>
      </p:sp>
      <p:sp>
        <p:nvSpPr>
          <p:cNvPr id="21" name="Text 19"/>
          <p:cNvSpPr/>
          <p:nvPr/>
        </p:nvSpPr>
        <p:spPr>
          <a:xfrm>
            <a:off x="5838444" y="16093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5102352" y="2194560"/>
            <a:ext cx="1947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335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数据分析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5193792" y="2651760"/>
            <a:ext cx="176479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像问 Excel 一样问 SAP 表，答案带表格和图表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193792" y="3749040"/>
            <a:ext cx="1764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i="1" dirty="0">
                <a:solidFill>
                  <a:srgbClr val="0A6E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“按工厂统计物料数，画个柱状图”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7287768" y="1371600"/>
            <a:ext cx="2130552" cy="3246120"/>
          </a:xfrm>
          <a:prstGeom prst="roundRect">
            <a:avLst>
              <a:gd name="adj" fmla="val 3863"/>
            </a:avLst>
          </a:prstGeom>
          <a:solidFill>
            <a:srgbClr val="FFFFFF"/>
          </a:solidFill>
          <a:ln w="12700">
            <a:solidFill>
              <a:srgbClr val="C9D6E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115300" y="1609344"/>
            <a:ext cx="475488" cy="475488"/>
          </a:xfrm>
          <a:prstGeom prst="ellipse">
            <a:avLst/>
          </a:prstGeom>
          <a:solidFill>
            <a:srgbClr val="0A6ED1"/>
          </a:solidFill>
          <a:ln/>
        </p:spPr>
      </p:sp>
      <p:sp>
        <p:nvSpPr>
          <p:cNvPr id="27" name="Text 25"/>
          <p:cNvSpPr/>
          <p:nvPr/>
        </p:nvSpPr>
        <p:spPr>
          <a:xfrm>
            <a:off x="8115300" y="16093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7379208" y="2194560"/>
            <a:ext cx="1947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335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库存查询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7470648" y="2651760"/>
            <a:ext cx="176479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问库存余量、批次、最近收发，数字直接来自 SAP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7470648" y="3749040"/>
            <a:ext cx="1764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i="1" dirty="0">
                <a:solidFill>
                  <a:srgbClr val="0A6E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“这个料在各仓库还剩多少？”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9564624" y="1371600"/>
            <a:ext cx="2130552" cy="3246120"/>
          </a:xfrm>
          <a:prstGeom prst="roundRect">
            <a:avLst>
              <a:gd name="adj" fmla="val 3863"/>
            </a:avLst>
          </a:prstGeom>
          <a:solidFill>
            <a:srgbClr val="FFFFFF"/>
          </a:solidFill>
          <a:ln w="12700">
            <a:solidFill>
              <a:srgbClr val="C9D6E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0392156" y="1609344"/>
            <a:ext cx="475488" cy="475488"/>
          </a:xfrm>
          <a:prstGeom prst="ellipse">
            <a:avLst/>
          </a:prstGeom>
          <a:solidFill>
            <a:srgbClr val="0A6ED1"/>
          </a:solidFill>
          <a:ln/>
        </p:spPr>
      </p:sp>
      <p:sp>
        <p:nvSpPr>
          <p:cNvPr id="33" name="Text 31"/>
          <p:cNvSpPr/>
          <p:nvPr/>
        </p:nvSpPr>
        <p:spPr>
          <a:xfrm>
            <a:off x="10392156" y="16093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9656064" y="2194560"/>
            <a:ext cx="1947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335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报表执行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9747504" y="2651760"/>
            <a:ext cx="176479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平时手动跑的老报表交给它，跑完还能继续追问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9747504" y="3749040"/>
            <a:ext cx="1764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i="1" dirty="0">
                <a:solidFill>
                  <a:srgbClr val="0A6E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“跑一下 ZRMM_IDP_0702，工厂 1000”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457200" y="4892040"/>
            <a:ext cx="11274552" cy="1143000"/>
          </a:xfrm>
          <a:prstGeom prst="roundRect">
            <a:avLst>
              <a:gd name="adj" fmla="val 7200"/>
            </a:avLst>
          </a:prstGeom>
          <a:solidFill>
            <a:srgbClr val="F2F7FD"/>
          </a:solidFill>
          <a:ln w="12700">
            <a:solidFill>
              <a:srgbClr val="C9D6E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31520" y="50749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1335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边界规则（重要）：</a:t>
            </a:r>
            <a:r>
              <a:rPr lang="en-US" sz="1100" dirty="0">
                <a:solidFill>
                  <a:srgbClr val="24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对话页默认不碰 SAP 数据，点名程序/表名会给“转到 Agent”建议；每个 Agent 场景只做自己那类事，越界请求会被明确拒绝并提示换场景——边界清晰比“什么都能问”更重要。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237744" cy="237744"/>
          </a:xfrm>
          <a:prstGeom prst="ellipse">
            <a:avLst/>
          </a:prstGeom>
          <a:solidFill>
            <a:srgbClr val="F0AB00"/>
          </a:solidFill>
          <a:ln/>
        </p:spPr>
      </p:sp>
      <p:sp>
        <p:nvSpPr>
          <p:cNvPr id="3" name="Shape 1"/>
          <p:cNvSpPr/>
          <p:nvPr/>
        </p:nvSpPr>
        <p:spPr>
          <a:xfrm>
            <a:off x="594360" y="347472"/>
            <a:ext cx="237744" cy="237744"/>
          </a:xfrm>
          <a:prstGeom prst="ellipse">
            <a:avLst/>
          </a:prstGeom>
          <a:solidFill>
            <a:srgbClr val="0A6ED1"/>
          </a:solidFill>
          <a:ln/>
        </p:spPr>
      </p:sp>
      <p:sp>
        <p:nvSpPr>
          <p:cNvPr id="4" name="Text 2"/>
          <p:cNvSpPr/>
          <p:nvPr/>
        </p:nvSpPr>
        <p:spPr>
          <a:xfrm>
            <a:off x="960120" y="219456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335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业务场景 ② · 打分与评价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978408" y="71323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项目自评（10 分制）：10=生产级开箱即用 ｜ 8=可靠可用、边界明确 ｜ 6=能用但需人工把关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10177272" y="29260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i="1" dirty="0">
                <a:solidFill>
                  <a:srgbClr val="0A6E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A事业群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1481328"/>
            <a:ext cx="1965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4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库存查询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2514600" y="1691640"/>
            <a:ext cx="3017520" cy="182880"/>
          </a:xfrm>
          <a:prstGeom prst="roundRect">
            <a:avLst>
              <a:gd name="adj" fmla="val 50000"/>
            </a:avLst>
          </a:prstGeom>
          <a:solidFill>
            <a:srgbClr val="E7EEF6"/>
          </a:solidFill>
          <a:ln/>
        </p:spPr>
      </p:sp>
      <p:sp>
        <p:nvSpPr>
          <p:cNvPr id="9" name="Shape 7"/>
          <p:cNvSpPr/>
          <p:nvPr/>
        </p:nvSpPr>
        <p:spPr>
          <a:xfrm>
            <a:off x="2514600" y="1691640"/>
            <a:ext cx="2715768" cy="182880"/>
          </a:xfrm>
          <a:prstGeom prst="roundRect">
            <a:avLst>
              <a:gd name="adj" fmla="val 50000"/>
            </a:avLst>
          </a:prstGeom>
          <a:solidFill>
            <a:srgbClr val="1E7D32"/>
          </a:solidFill>
          <a:ln/>
        </p:spPr>
      </p:sp>
      <p:sp>
        <p:nvSpPr>
          <p:cNvPr id="10" name="Text 8"/>
          <p:cNvSpPr/>
          <p:nvPr/>
        </p:nvSpPr>
        <p:spPr>
          <a:xfrm>
            <a:off x="5641848" y="1481328"/>
            <a:ext cx="777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7D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9.0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583680" y="1481328"/>
            <a:ext cx="521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8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范围窄但最稳：四个只读工具直连 MARA/MARD/MSEG/MCHB，数字可信、几乎不会错</a:t>
            </a:r>
            <a:endParaRPr lang="en-US" sz="980" dirty="0"/>
          </a:p>
        </p:txBody>
      </p:sp>
      <p:sp>
        <p:nvSpPr>
          <p:cNvPr id="12" name="Text 10"/>
          <p:cNvSpPr/>
          <p:nvPr/>
        </p:nvSpPr>
        <p:spPr>
          <a:xfrm>
            <a:off x="457200" y="2084832"/>
            <a:ext cx="1965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4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普通对话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2514600" y="2295144"/>
            <a:ext cx="3017520" cy="182880"/>
          </a:xfrm>
          <a:prstGeom prst="roundRect">
            <a:avLst>
              <a:gd name="adj" fmla="val 50000"/>
            </a:avLst>
          </a:prstGeom>
          <a:solidFill>
            <a:srgbClr val="E7EEF6"/>
          </a:solidFill>
          <a:ln/>
        </p:spPr>
      </p:sp>
      <p:sp>
        <p:nvSpPr>
          <p:cNvPr id="14" name="Shape 12"/>
          <p:cNvSpPr/>
          <p:nvPr/>
        </p:nvSpPr>
        <p:spPr>
          <a:xfrm>
            <a:off x="2514600" y="2295144"/>
            <a:ext cx="2715768" cy="182880"/>
          </a:xfrm>
          <a:prstGeom prst="roundRect">
            <a:avLst>
              <a:gd name="adj" fmla="val 50000"/>
            </a:avLst>
          </a:prstGeom>
          <a:solidFill>
            <a:srgbClr val="1E7D32"/>
          </a:solidFill>
          <a:ln/>
        </p:spPr>
      </p:sp>
      <p:sp>
        <p:nvSpPr>
          <p:cNvPr id="15" name="Text 13"/>
          <p:cNvSpPr/>
          <p:nvPr/>
        </p:nvSpPr>
        <p:spPr>
          <a:xfrm>
            <a:off x="5641848" y="2084832"/>
            <a:ext cx="777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7D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9.0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583680" y="2084832"/>
            <a:ext cx="521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8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体验对标商用 AI 产品：渲染/停止/角色/附件齐全；扣分点是等待感（无真流式）</a:t>
            </a:r>
            <a:endParaRPr lang="en-US" sz="980" dirty="0"/>
          </a:p>
        </p:txBody>
      </p:sp>
      <p:sp>
        <p:nvSpPr>
          <p:cNvPr id="17" name="Text 15"/>
          <p:cNvSpPr/>
          <p:nvPr/>
        </p:nvSpPr>
        <p:spPr>
          <a:xfrm>
            <a:off x="457200" y="2688336"/>
            <a:ext cx="1965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4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测评（管理）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2514600" y="2898648"/>
            <a:ext cx="3017520" cy="182880"/>
          </a:xfrm>
          <a:prstGeom prst="roundRect">
            <a:avLst>
              <a:gd name="adj" fmla="val 50000"/>
            </a:avLst>
          </a:prstGeom>
          <a:solidFill>
            <a:srgbClr val="E7EEF6"/>
          </a:solidFill>
          <a:ln/>
        </p:spPr>
      </p:sp>
      <p:sp>
        <p:nvSpPr>
          <p:cNvPr id="19" name="Shape 17"/>
          <p:cNvSpPr/>
          <p:nvPr/>
        </p:nvSpPr>
        <p:spPr>
          <a:xfrm>
            <a:off x="2514600" y="2898648"/>
            <a:ext cx="2564892" cy="182880"/>
          </a:xfrm>
          <a:prstGeom prst="roundRect">
            <a:avLst>
              <a:gd name="adj" fmla="val 50000"/>
            </a:avLst>
          </a:prstGeom>
          <a:solidFill>
            <a:srgbClr val="1E7D32"/>
          </a:solidFill>
          <a:ln/>
        </p:spPr>
      </p:sp>
      <p:sp>
        <p:nvSpPr>
          <p:cNvPr id="20" name="Text 18"/>
          <p:cNvSpPr/>
          <p:nvPr/>
        </p:nvSpPr>
        <p:spPr>
          <a:xfrm>
            <a:off x="5641848" y="2688336"/>
            <a:ext cx="777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7D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8.5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583680" y="2688336"/>
            <a:ext cx="521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8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工程亮点：29 题走真实链路、先测再改；题量还小，未成回归门禁</a:t>
            </a:r>
            <a:endParaRPr lang="en-US" sz="980" dirty="0"/>
          </a:p>
        </p:txBody>
      </p:sp>
      <p:sp>
        <p:nvSpPr>
          <p:cNvPr id="22" name="Text 20"/>
          <p:cNvSpPr/>
          <p:nvPr/>
        </p:nvSpPr>
        <p:spPr>
          <a:xfrm>
            <a:off x="457200" y="3291840"/>
            <a:ext cx="1965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4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代码分析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2514600" y="3502152"/>
            <a:ext cx="3017520" cy="182880"/>
          </a:xfrm>
          <a:prstGeom prst="roundRect">
            <a:avLst>
              <a:gd name="adj" fmla="val 50000"/>
            </a:avLst>
          </a:prstGeom>
          <a:solidFill>
            <a:srgbClr val="E7EEF6"/>
          </a:solidFill>
          <a:ln/>
        </p:spPr>
      </p:sp>
      <p:sp>
        <p:nvSpPr>
          <p:cNvPr id="24" name="Shape 22"/>
          <p:cNvSpPr/>
          <p:nvPr/>
        </p:nvSpPr>
        <p:spPr>
          <a:xfrm>
            <a:off x="2514600" y="3502152"/>
            <a:ext cx="2414016" cy="182880"/>
          </a:xfrm>
          <a:prstGeom prst="roundRect">
            <a:avLst>
              <a:gd name="adj" fmla="val 50000"/>
            </a:avLst>
          </a:prstGeom>
          <a:solidFill>
            <a:srgbClr val="0A6ED1"/>
          </a:solidFill>
          <a:ln/>
        </p:spPr>
      </p:sp>
      <p:sp>
        <p:nvSpPr>
          <p:cNvPr id="25" name="Text 23"/>
          <p:cNvSpPr/>
          <p:nvPr/>
        </p:nvSpPr>
        <p:spPr>
          <a:xfrm>
            <a:off x="5641848" y="3291840"/>
            <a:ext cx="777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A6E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8.0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583680" y="3291840"/>
            <a:ext cx="521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8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能读能讲：Z/Y 源码分页读取含 INCLUDE；标准对象读不了，没有跨对象引用分析</a:t>
            </a:r>
            <a:endParaRPr lang="en-US" sz="980" dirty="0"/>
          </a:p>
        </p:txBody>
      </p:sp>
      <p:sp>
        <p:nvSpPr>
          <p:cNvPr id="27" name="Text 25"/>
          <p:cNvSpPr/>
          <p:nvPr/>
        </p:nvSpPr>
        <p:spPr>
          <a:xfrm>
            <a:off x="457200" y="3895344"/>
            <a:ext cx="1965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4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数据分析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2514600" y="4105656"/>
            <a:ext cx="3017520" cy="182880"/>
          </a:xfrm>
          <a:prstGeom prst="roundRect">
            <a:avLst>
              <a:gd name="adj" fmla="val 50000"/>
            </a:avLst>
          </a:prstGeom>
          <a:solidFill>
            <a:srgbClr val="E7EEF6"/>
          </a:solidFill>
          <a:ln/>
        </p:spPr>
      </p:sp>
      <p:sp>
        <p:nvSpPr>
          <p:cNvPr id="29" name="Shape 27"/>
          <p:cNvSpPr/>
          <p:nvPr/>
        </p:nvSpPr>
        <p:spPr>
          <a:xfrm>
            <a:off x="2514600" y="4105656"/>
            <a:ext cx="2414016" cy="182880"/>
          </a:xfrm>
          <a:prstGeom prst="roundRect">
            <a:avLst>
              <a:gd name="adj" fmla="val 50000"/>
            </a:avLst>
          </a:prstGeom>
          <a:solidFill>
            <a:srgbClr val="0A6ED1"/>
          </a:solidFill>
          <a:ln/>
        </p:spPr>
      </p:sp>
      <p:sp>
        <p:nvSpPr>
          <p:cNvPr id="30" name="Text 28"/>
          <p:cNvSpPr/>
          <p:nvPr/>
        </p:nvSpPr>
        <p:spPr>
          <a:xfrm>
            <a:off x="5641848" y="3895344"/>
            <a:ext cx="777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A6E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8.0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583680" y="3895344"/>
            <a:ext cx="521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8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目录内很稳：查询计划受控、图表自动出；目录外要管理员登记，图表仅柱/线/饼</a:t>
            </a:r>
            <a:endParaRPr lang="en-US" sz="980" dirty="0"/>
          </a:p>
        </p:txBody>
      </p:sp>
      <p:sp>
        <p:nvSpPr>
          <p:cNvPr id="32" name="Text 30"/>
          <p:cNvSpPr/>
          <p:nvPr/>
        </p:nvSpPr>
        <p:spPr>
          <a:xfrm>
            <a:off x="457200" y="4498848"/>
            <a:ext cx="1965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4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报表执行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2514600" y="4709160"/>
            <a:ext cx="3017520" cy="182880"/>
          </a:xfrm>
          <a:prstGeom prst="roundRect">
            <a:avLst>
              <a:gd name="adj" fmla="val 50000"/>
            </a:avLst>
          </a:prstGeom>
          <a:solidFill>
            <a:srgbClr val="E7EEF6"/>
          </a:solidFill>
          <a:ln/>
        </p:spPr>
      </p:sp>
      <p:sp>
        <p:nvSpPr>
          <p:cNvPr id="34" name="Shape 32"/>
          <p:cNvSpPr/>
          <p:nvPr/>
        </p:nvSpPr>
        <p:spPr>
          <a:xfrm>
            <a:off x="2514600" y="4709160"/>
            <a:ext cx="2112264" cy="182880"/>
          </a:xfrm>
          <a:prstGeom prst="roundRect">
            <a:avLst>
              <a:gd name="adj" fmla="val 50000"/>
            </a:avLst>
          </a:prstGeom>
          <a:solidFill>
            <a:srgbClr val="C46A15"/>
          </a:solidFill>
          <a:ln/>
        </p:spPr>
      </p:sp>
      <p:sp>
        <p:nvSpPr>
          <p:cNvPr id="35" name="Text 33"/>
          <p:cNvSpPr/>
          <p:nvPr/>
        </p:nvSpPr>
        <p:spPr>
          <a:xfrm>
            <a:off x="5641848" y="4498848"/>
            <a:ext cx="777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46A1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7.0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583680" y="4498848"/>
            <a:ext cx="521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8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跑得动、能追问：只支持登记过的 TCode；写参数存在网关兼容问题，异步等待体验一般</a:t>
            </a:r>
            <a:endParaRPr lang="en-US" sz="980" dirty="0"/>
          </a:p>
        </p:txBody>
      </p:sp>
      <p:sp>
        <p:nvSpPr>
          <p:cNvPr id="37" name="Shape 35"/>
          <p:cNvSpPr/>
          <p:nvPr/>
        </p:nvSpPr>
        <p:spPr>
          <a:xfrm>
            <a:off x="457200" y="5285232"/>
            <a:ext cx="11274552" cy="1170432"/>
          </a:xfrm>
          <a:prstGeom prst="roundRect">
            <a:avLst>
              <a:gd name="adj" fmla="val 7031"/>
            </a:avLst>
          </a:prstGeom>
          <a:solidFill>
            <a:srgbClr val="FFF8E6"/>
          </a:solidFill>
          <a:ln w="12700">
            <a:solidFill>
              <a:srgbClr val="EFD9A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31520" y="5440680"/>
            <a:ext cx="10698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8A5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总评：综合 8.3 / 10。</a:t>
            </a:r>
            <a:r>
              <a:rPr lang="en-US" sz="1150" dirty="0">
                <a:solidFill>
                  <a:srgbClr val="24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长板是安全合规与数据可信（内网、只读、全审计）；短板是智能化深度（规则路由、无 RAG、无真流式）。定位：开发与顾问日常高频问题的“第一入口”——八成的日常问题在这解决，两成复杂问题留给专业工具。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237744" cy="237744"/>
          </a:xfrm>
          <a:prstGeom prst="ellipse">
            <a:avLst/>
          </a:prstGeom>
          <a:solidFill>
            <a:srgbClr val="F0AB00"/>
          </a:solidFill>
          <a:ln/>
        </p:spPr>
      </p:sp>
      <p:sp>
        <p:nvSpPr>
          <p:cNvPr id="3" name="Shape 1"/>
          <p:cNvSpPr/>
          <p:nvPr/>
        </p:nvSpPr>
        <p:spPr>
          <a:xfrm>
            <a:off x="594360" y="347472"/>
            <a:ext cx="237744" cy="237744"/>
          </a:xfrm>
          <a:prstGeom prst="ellipse">
            <a:avLst/>
          </a:prstGeom>
          <a:solidFill>
            <a:srgbClr val="0A6ED1"/>
          </a:solidFill>
          <a:ln/>
        </p:spPr>
      </p:sp>
      <p:sp>
        <p:nvSpPr>
          <p:cNvPr id="4" name="Text 2"/>
          <p:cNvSpPr/>
          <p:nvPr/>
        </p:nvSpPr>
        <p:spPr>
          <a:xfrm>
            <a:off x="960120" y="219456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335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目前的不足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978408" y="71323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六个已知短板，按“影响用户感知”排序——先说清楚，才好排优先级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10177272" y="29260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i="1" dirty="0">
                <a:solidFill>
                  <a:srgbClr val="0A6E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A事业群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F7FAFE"/>
          </a:solidFill>
          <a:ln w="12700">
            <a:solidFill>
              <a:srgbClr val="C9D6E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58368" y="1600200"/>
            <a:ext cx="841248" cy="27432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/>
        </p:spPr>
      </p:sp>
      <p:sp>
        <p:nvSpPr>
          <p:cNvPr id="9" name="Text 7"/>
          <p:cNvSpPr/>
          <p:nvPr/>
        </p:nvSpPr>
        <p:spPr>
          <a:xfrm>
            <a:off x="658368" y="1600200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体验·高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76656" y="198424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335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没有真流式输出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76656" y="2404872"/>
            <a:ext cx="320040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模型响应是整段返回，打字机只是前端模拟；长答案和多轮工具调用时，等待感明显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270248" y="1417320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F7FAFE"/>
          </a:solidFill>
          <a:ln w="12700">
            <a:solidFill>
              <a:srgbClr val="C9D6E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471416" y="1600200"/>
            <a:ext cx="841248" cy="27432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/>
        </p:spPr>
      </p:sp>
      <p:sp>
        <p:nvSpPr>
          <p:cNvPr id="14" name="Text 12"/>
          <p:cNvSpPr/>
          <p:nvPr/>
        </p:nvSpPr>
        <p:spPr>
          <a:xfrm>
            <a:off x="4471416" y="1600200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能力·高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489704" y="198424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335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意图理解靠规则路由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489704" y="2404872"/>
            <a:ext cx="320040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关键词路由+场景外确定性拒绝，安全但不够聪明；模糊或复合问题可能被“请换场景”挡住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083296" y="1417320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F7FAFE"/>
          </a:solidFill>
          <a:ln w="12700">
            <a:solidFill>
              <a:srgbClr val="C9D6E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84464" y="1600200"/>
            <a:ext cx="841248" cy="274320"/>
          </a:xfrm>
          <a:prstGeom prst="roundRect">
            <a:avLst>
              <a:gd name="adj" fmla="val 50000"/>
            </a:avLst>
          </a:prstGeom>
          <a:solidFill>
            <a:srgbClr val="C46A15"/>
          </a:solidFill>
          <a:ln/>
        </p:spPr>
      </p:sp>
      <p:sp>
        <p:nvSpPr>
          <p:cNvPr id="19" name="Text 17"/>
          <p:cNvSpPr/>
          <p:nvPr/>
        </p:nvSpPr>
        <p:spPr>
          <a:xfrm>
            <a:off x="8284464" y="1600200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能力·中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8302752" y="198424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335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没有知识库沉淀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302752" y="2404872"/>
            <a:ext cx="320040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无向量 RAG：操作手册、业务文档、历史结论进不了上下文，只有实时取数这一种知识来源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57200" y="3721608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F7FAFE"/>
          </a:solidFill>
          <a:ln w="12700">
            <a:solidFill>
              <a:srgbClr val="C9D6E4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58368" y="3904488"/>
            <a:ext cx="841248" cy="274320"/>
          </a:xfrm>
          <a:prstGeom prst="roundRect">
            <a:avLst>
              <a:gd name="adj" fmla="val 50000"/>
            </a:avLst>
          </a:prstGeom>
          <a:solidFill>
            <a:srgbClr val="C46A15"/>
          </a:solidFill>
          <a:ln/>
        </p:spPr>
      </p:sp>
      <p:sp>
        <p:nvSpPr>
          <p:cNvPr id="24" name="Text 22"/>
          <p:cNvSpPr/>
          <p:nvPr/>
        </p:nvSpPr>
        <p:spPr>
          <a:xfrm>
            <a:off x="658368" y="3904488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工程·中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676656" y="4288536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335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部署运维全手工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76656" y="4709160"/>
            <a:ext cx="320040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SE11/SEGW/SE24 逐对象激活，前端全量包约 8600 文件；没有 CI/CD，也没有自动回归门禁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270248" y="3721608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F7FAFE"/>
          </a:solidFill>
          <a:ln w="12700">
            <a:solidFill>
              <a:srgbClr val="C9D6E4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471416" y="3904488"/>
            <a:ext cx="841248" cy="274320"/>
          </a:xfrm>
          <a:prstGeom prst="roundRect">
            <a:avLst>
              <a:gd name="adj" fmla="val 50000"/>
            </a:avLst>
          </a:prstGeom>
          <a:solidFill>
            <a:srgbClr val="C46A15"/>
          </a:solidFill>
          <a:ln/>
        </p:spPr>
      </p:sp>
      <p:sp>
        <p:nvSpPr>
          <p:cNvPr id="29" name="Text 27"/>
          <p:cNvSpPr/>
          <p:nvPr/>
        </p:nvSpPr>
        <p:spPr>
          <a:xfrm>
            <a:off x="4471416" y="3904488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工程·中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4489704" y="4288536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335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写参数网关兼容问题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489704" y="4709160"/>
            <a:ext cx="320040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T-07：部分写操作参数走 POST 正文，网关版本若只读 URL 参数则不生效（角色保存类接口）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8083296" y="3721608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F7FAFE"/>
          </a:solidFill>
          <a:ln w="12700">
            <a:solidFill>
              <a:srgbClr val="C9D6E4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284464" y="3904488"/>
            <a:ext cx="841248" cy="274320"/>
          </a:xfrm>
          <a:prstGeom prst="roundRect">
            <a:avLst>
              <a:gd name="adj" fmla="val 50000"/>
            </a:avLst>
          </a:prstGeom>
          <a:solidFill>
            <a:srgbClr val="C46A15"/>
          </a:solidFill>
          <a:ln/>
        </p:spPr>
      </p:sp>
      <p:sp>
        <p:nvSpPr>
          <p:cNvPr id="34" name="Text 32"/>
          <p:cNvSpPr/>
          <p:nvPr/>
        </p:nvSpPr>
        <p:spPr>
          <a:xfrm>
            <a:off x="8284464" y="3904488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范围·中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8302752" y="4288536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335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单系统单 client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8302752" y="4709160"/>
            <a:ext cx="320040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只接一套 S/4（client 470）；测评题库 29 题覆盖有限，复杂分析场景未充分验证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237744" cy="237744"/>
          </a:xfrm>
          <a:prstGeom prst="ellipse">
            <a:avLst/>
          </a:prstGeom>
          <a:solidFill>
            <a:srgbClr val="F0AB00"/>
          </a:solidFill>
          <a:ln/>
        </p:spPr>
      </p:sp>
      <p:sp>
        <p:nvSpPr>
          <p:cNvPr id="3" name="Shape 1"/>
          <p:cNvSpPr/>
          <p:nvPr/>
        </p:nvSpPr>
        <p:spPr>
          <a:xfrm>
            <a:off x="594360" y="347472"/>
            <a:ext cx="237744" cy="237744"/>
          </a:xfrm>
          <a:prstGeom prst="ellipse">
            <a:avLst/>
          </a:prstGeom>
          <a:solidFill>
            <a:srgbClr val="0A6ED1"/>
          </a:solidFill>
          <a:ln/>
        </p:spPr>
      </p:sp>
      <p:sp>
        <p:nvSpPr>
          <p:cNvPr id="4" name="Text 2"/>
          <p:cNvSpPr/>
          <p:nvPr/>
        </p:nvSpPr>
        <p:spPr>
          <a:xfrm>
            <a:off x="960120" y="219456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335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用处与后期方向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978408" y="71323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左：现在就能兑现的价值；右：下一步值得投入的研究点，与上一页短板一一对应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10177272" y="29260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i="1" dirty="0">
                <a:solidFill>
                  <a:srgbClr val="0A6E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A事业群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5486400" cy="4846320"/>
          </a:xfrm>
          <a:prstGeom prst="roundRect">
            <a:avLst>
              <a:gd name="adj" fmla="val 1698"/>
            </a:avLst>
          </a:prstGeom>
          <a:solidFill>
            <a:srgbClr val="F2F7FD"/>
          </a:solidFill>
          <a:ln w="12700">
            <a:solidFill>
              <a:srgbClr val="C9D6E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" y="155448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1335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对谁有什么用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731520" y="2130552"/>
            <a:ext cx="91440" cy="91440"/>
          </a:xfrm>
          <a:prstGeom prst="ellipse">
            <a:avLst/>
          </a:prstGeom>
          <a:solidFill>
            <a:srgbClr val="F0AB00"/>
          </a:solidFill>
          <a:ln/>
        </p:spPr>
      </p:sp>
      <p:sp>
        <p:nvSpPr>
          <p:cNvPr id="10" name="Text 8"/>
          <p:cNvSpPr/>
          <p:nvPr/>
        </p:nvSpPr>
        <p:spPr>
          <a:xfrm>
            <a:off x="932688" y="2011680"/>
            <a:ext cx="4800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24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开发提效：</a:t>
            </a:r>
            <a:r>
              <a:rPr lang="en-US" sz="10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读源码、查表结构、取样例数据，少开 SE80/SE16；代码模板随手要随手改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31520" y="2935224"/>
            <a:ext cx="91440" cy="91440"/>
          </a:xfrm>
          <a:prstGeom prst="ellipse">
            <a:avLst/>
          </a:prstGeom>
          <a:solidFill>
            <a:srgbClr val="F0AB00"/>
          </a:solidFill>
          <a:ln/>
        </p:spPr>
      </p:sp>
      <p:sp>
        <p:nvSpPr>
          <p:cNvPr id="12" name="Text 10"/>
          <p:cNvSpPr/>
          <p:nvPr/>
        </p:nvSpPr>
        <p:spPr>
          <a:xfrm>
            <a:off x="932688" y="2816352"/>
            <a:ext cx="4800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24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顾问自助：</a:t>
            </a:r>
            <a:r>
              <a:rPr lang="en-US" sz="10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自然语言拿数看图，不用排队等 IT 导 Excel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31520" y="3739896"/>
            <a:ext cx="91440" cy="91440"/>
          </a:xfrm>
          <a:prstGeom prst="ellipse">
            <a:avLst/>
          </a:prstGeom>
          <a:solidFill>
            <a:srgbClr val="F0AB00"/>
          </a:solidFill>
          <a:ln/>
        </p:spPr>
      </p:sp>
      <p:sp>
        <p:nvSpPr>
          <p:cNvPr id="14" name="Text 12"/>
          <p:cNvSpPr/>
          <p:nvPr/>
        </p:nvSpPr>
        <p:spPr>
          <a:xfrm>
            <a:off x="932688" y="3621024"/>
            <a:ext cx="4800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24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报表初查：</a:t>
            </a:r>
            <a:r>
              <a:rPr lang="en-US" sz="10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常用登记报表一句话先跑起来，结果直接追问下钻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31520" y="4544568"/>
            <a:ext cx="91440" cy="91440"/>
          </a:xfrm>
          <a:prstGeom prst="ellipse">
            <a:avLst/>
          </a:prstGeom>
          <a:solidFill>
            <a:srgbClr val="F0AB00"/>
          </a:solidFill>
          <a:ln/>
        </p:spPr>
      </p:sp>
      <p:sp>
        <p:nvSpPr>
          <p:cNvPr id="16" name="Text 14"/>
          <p:cNvSpPr/>
          <p:nvPr/>
        </p:nvSpPr>
        <p:spPr>
          <a:xfrm>
            <a:off x="932688" y="4425696"/>
            <a:ext cx="4800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24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新人上手：</a:t>
            </a:r>
            <a:r>
              <a:rPr lang="en-US" sz="10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泡泡快捷指令+演示模式，新人第一天就能用起来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31520" y="5349240"/>
            <a:ext cx="91440" cy="91440"/>
          </a:xfrm>
          <a:prstGeom prst="ellipse">
            <a:avLst/>
          </a:prstGeom>
          <a:solidFill>
            <a:srgbClr val="F0AB00"/>
          </a:solidFill>
          <a:ln/>
        </p:spPr>
      </p:sp>
      <p:sp>
        <p:nvSpPr>
          <p:cNvPr id="18" name="Text 16"/>
          <p:cNvSpPr/>
          <p:nvPr/>
        </p:nvSpPr>
        <p:spPr>
          <a:xfrm>
            <a:off x="932688" y="5230368"/>
            <a:ext cx="4800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24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合规 AI 试点：</a:t>
            </a:r>
            <a:r>
              <a:rPr lang="en-US" sz="10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全内网、可审计、数据只读，是集团推 AI 阻力最小的切口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245352" y="1371600"/>
            <a:ext cx="5489143" cy="4846320"/>
          </a:xfrm>
          <a:prstGeom prst="roundRect">
            <a:avLst>
              <a:gd name="adj" fmla="val 1698"/>
            </a:avLst>
          </a:prstGeom>
          <a:solidFill>
            <a:srgbClr val="133559"/>
          </a:solidFill>
          <a:ln/>
        </p:spPr>
      </p:sp>
      <p:sp>
        <p:nvSpPr>
          <p:cNvPr id="20" name="Text 18"/>
          <p:cNvSpPr/>
          <p:nvPr/>
        </p:nvSpPr>
        <p:spPr>
          <a:xfrm>
            <a:off x="6501384" y="1554480"/>
            <a:ext cx="497707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后期研究方向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6501384" y="2084832"/>
            <a:ext cx="497707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00" b="1" dirty="0">
                <a:solidFill>
                  <a:srgbClr val="F0AB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流式输出：</a:t>
            </a:r>
            <a:r>
              <a:rPr lang="en-US" sz="1000" dirty="0">
                <a:solidFill>
                  <a:srgbClr val="C8D6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SSE 打通 SAP 网关，长答案边生成边显示（对应：无真流式）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501384" y="2770632"/>
            <a:ext cx="497707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00" b="1" dirty="0">
                <a:solidFill>
                  <a:srgbClr val="F0AB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知识库 + RAG 混合：</a:t>
            </a:r>
            <a:r>
              <a:rPr lang="en-US" sz="1000" dirty="0">
                <a:solidFill>
                  <a:srgbClr val="C8D6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文档知识检索与实时取数互补，沉淀操作手册与历史结论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501384" y="3456432"/>
            <a:ext cx="497707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00" b="1" dirty="0">
                <a:solidFill>
                  <a:srgbClr val="F0AB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能力目录自助登记：</a:t>
            </a:r>
            <a:r>
              <a:rPr lang="en-US" sz="1000" dirty="0">
                <a:solidFill>
                  <a:srgbClr val="C8D6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管理员一句话“把 ZIDPMM455 加进来”自动完成登记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501384" y="4142232"/>
            <a:ext cx="497707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00" b="1" dirty="0">
                <a:solidFill>
                  <a:srgbClr val="F0AB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评测扩容 + 回归门禁：</a:t>
            </a:r>
            <a:r>
              <a:rPr lang="en-US" sz="1000" dirty="0">
                <a:solidFill>
                  <a:srgbClr val="C8D6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题库扩到 100+，每次发版自动跑、不过不放行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501384" y="4828032"/>
            <a:ext cx="497707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00" b="1" dirty="0">
                <a:solidFill>
                  <a:srgbClr val="F0AB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受控写操作：</a:t>
            </a:r>
            <a:r>
              <a:rPr lang="en-US" sz="1000" dirty="0">
                <a:solidFill>
                  <a:srgbClr val="C8D6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参数确认+沙箱模拟+审批流，从只读走向受控写入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501384" y="5513832"/>
            <a:ext cx="497707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00" b="1" dirty="0">
                <a:solidFill>
                  <a:srgbClr val="F0AB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多系统联邦：</a:t>
            </a:r>
            <a:r>
              <a:rPr lang="en-US" sz="1000" dirty="0">
                <a:solidFill>
                  <a:srgbClr val="C8D6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一个入口查多套 SAP/多 client，统一权限映射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822960"/>
            <a:ext cx="365760" cy="365760"/>
          </a:xfrm>
          <a:prstGeom prst="ellipse">
            <a:avLst/>
          </a:prstGeom>
          <a:solidFill>
            <a:srgbClr val="F0AB00"/>
          </a:solidFill>
          <a:ln/>
        </p:spPr>
      </p:sp>
      <p:sp>
        <p:nvSpPr>
          <p:cNvPr id="3" name="Shape 1"/>
          <p:cNvSpPr/>
          <p:nvPr/>
        </p:nvSpPr>
        <p:spPr>
          <a:xfrm>
            <a:off x="896112" y="822960"/>
            <a:ext cx="365760" cy="365760"/>
          </a:xfrm>
          <a:prstGeom prst="ellipse">
            <a:avLst/>
          </a:prstGeom>
          <a:solidFill>
            <a:srgbClr val="0A6ED1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41732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335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先测，再改；只读起步，逐步开放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2377440"/>
            <a:ext cx="10058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这套系统的设计哲学：每一步都可控、可验证、可回溯——先把可信的底座跑稳，智能化的深度再一步步加上去。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85800" y="3429000"/>
            <a:ext cx="3639312" cy="1828800"/>
          </a:xfrm>
          <a:prstGeom prst="roundRect">
            <a:avLst>
              <a:gd name="adj" fmla="val 4500"/>
            </a:avLst>
          </a:prstGeom>
          <a:solidFill>
            <a:srgbClr val="F2F7FD"/>
          </a:solidFill>
          <a:ln w="19050">
            <a:solidFill>
              <a:srgbClr val="0A6ED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361188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0AB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411480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35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上线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14400" y="4526280"/>
            <a:ext cx="3182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A/B/C 三批一起部署激活，按对象清单逐项核版本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498848" y="3429000"/>
            <a:ext cx="3639312" cy="1828800"/>
          </a:xfrm>
          <a:prstGeom prst="roundRect">
            <a:avLst>
              <a:gd name="adj" fmla="val 4500"/>
            </a:avLst>
          </a:prstGeom>
          <a:solidFill>
            <a:srgbClr val="F7FAFE"/>
          </a:solidFill>
          <a:ln w="12700">
            <a:solidFill>
              <a:srgbClr val="C9D6E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27448" y="361188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0AB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4727448" y="411480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35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测基线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727448" y="4526280"/>
            <a:ext cx="3182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29 题测评跑基线并存档，后续每次改动对比通过率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311896" y="3429000"/>
            <a:ext cx="3639312" cy="1828800"/>
          </a:xfrm>
          <a:prstGeom prst="roundRect">
            <a:avLst>
              <a:gd name="adj" fmla="val 4500"/>
            </a:avLst>
          </a:prstGeom>
          <a:solidFill>
            <a:srgbClr val="F7FAFE"/>
          </a:solidFill>
          <a:ln w="12700">
            <a:solidFill>
              <a:srgbClr val="C9D6E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540496" y="361188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0AB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8540496" y="411480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35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迭代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540496" y="4526280"/>
            <a:ext cx="3182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按方向推进：流式输出 → 知识库混合 → 目录自助登记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85800" y="585216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SAP AI 对话助手 · 项目介绍 V2.0 ｜ 配套文档：《项目说明文档 V2.0》《底层原理》｜ 2026-10-13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9966960" y="585216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i="1" dirty="0">
                <a:solidFill>
                  <a:srgbClr val="0A6E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A事业群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SAP AI 对话助手 · 项目介绍 V2.0</dc:title>
  <dc:subject>PptxGenJS Presentation</dc:subject>
  <dc:creator>SAP AI 对话助手项目组</dc:creator>
  <cp:lastModifiedBy>SAP AI 对话助手项目组</cp:lastModifiedBy>
  <cp:revision>1</cp:revision>
  <dcterms:created xsi:type="dcterms:W3CDTF">2026-10-13T15:25:18Z</dcterms:created>
  <dcterms:modified xsi:type="dcterms:W3CDTF">2026-10-13T15:25:18Z</dcterms:modified>
</cp:coreProperties>
</file>