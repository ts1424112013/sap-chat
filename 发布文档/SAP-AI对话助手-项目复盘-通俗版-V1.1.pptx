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7baa5c6b834469" /><Relationship Type="http://schemas.openxmlformats.org/officeDocument/2006/relationships/extended-properties" Target="/docProps/app.xml" Id="Rd15f3f8b253f4444" /><Relationship Type="http://schemas.openxmlformats.org/officeDocument/2006/relationships/officeDocument" Target="/ppt/presentation.xml" Id="R96d98aeac1b24b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b7061404b943b5"/>
  </p:sldMasterIdLst>
  <p:notesMasterIdLst>
    <p:notesMasterId xmlns:r="http://schemas.openxmlformats.org/officeDocument/2006/relationships" r:id="R366d893939ff4e07"/>
  </p:notesMasterIdLst>
  <p:sldIdLst>
    <p:sldId xmlns:r="http://schemas.openxmlformats.org/officeDocument/2006/relationships" id="256" r:id="R24819fafaacf4e52"/>
    <p:sldId xmlns:r="http://schemas.openxmlformats.org/officeDocument/2006/relationships" id="257" r:id="R26f404d874b84f70"/>
    <p:sldId xmlns:r="http://schemas.openxmlformats.org/officeDocument/2006/relationships" id="258" r:id="Rc03b81fdfe6c4438"/>
    <p:sldId xmlns:r="http://schemas.openxmlformats.org/officeDocument/2006/relationships" id="259" r:id="Ra79a2bab3d994ced"/>
    <p:sldId xmlns:r="http://schemas.openxmlformats.org/officeDocument/2006/relationships" id="260" r:id="R2ddd7da7aa084e9c"/>
    <p:sldId xmlns:r="http://schemas.openxmlformats.org/officeDocument/2006/relationships" id="261" r:id="R8ad5ab90b99b4fd3"/>
    <p:sldId xmlns:r="http://schemas.openxmlformats.org/officeDocument/2006/relationships" id="262" r:id="Ra79c4ad714904223"/>
    <p:sldId xmlns:r="http://schemas.openxmlformats.org/officeDocument/2006/relationships" id="263" r:id="R0c690a3c4c01416a"/>
    <p:sldId xmlns:r="http://schemas.openxmlformats.org/officeDocument/2006/relationships" id="264" r:id="Raaed465b6697443a"/>
    <p:sldId xmlns:r="http://schemas.openxmlformats.org/officeDocument/2006/relationships" id="265" r:id="Rb48996ee204d45d5"/>
    <p:sldId xmlns:r="http://schemas.openxmlformats.org/officeDocument/2006/relationships" id="266" r:id="Reecba418a6bc474a"/>
    <p:sldId xmlns:r="http://schemas.openxmlformats.org/officeDocument/2006/relationships" id="267" r:id="Rd84f30835bcd42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799bfd31804910" /><Relationship Type="http://schemas.openxmlformats.org/officeDocument/2006/relationships/slideMaster" Target="/ppt/slideMasters/slideMaster1.xml" Id="R4db7061404b943b5" /><Relationship Type="http://schemas.openxmlformats.org/officeDocument/2006/relationships/notesMaster" Target="/ppt/notesMasters/notesMaster1.xml" Id="R366d893939ff4e07" /><Relationship Type="http://schemas.openxmlformats.org/officeDocument/2006/relationships/presProps" Target="/ppt/presProps.xml" Id="Rfafdadc3702948b9" /><Relationship Type="http://schemas.openxmlformats.org/officeDocument/2006/relationships/tableStyles" Target="/ppt/tableStyles.xml" Id="R94ca476494eb4597" /><Relationship Type="http://schemas.openxmlformats.org/officeDocument/2006/relationships/slide" Target="/ppt/slides/slide1.xml" Id="R24819fafaacf4e52" /><Relationship Type="http://schemas.openxmlformats.org/officeDocument/2006/relationships/slide" Target="/ppt/slides/slide2.xml" Id="R26f404d874b84f70" /><Relationship Type="http://schemas.openxmlformats.org/officeDocument/2006/relationships/slide" Target="/ppt/slides/slide3.xml" Id="Rc03b81fdfe6c4438" /><Relationship Type="http://schemas.openxmlformats.org/officeDocument/2006/relationships/slide" Target="/ppt/slides/slide4.xml" Id="Ra79a2bab3d994ced" /><Relationship Type="http://schemas.openxmlformats.org/officeDocument/2006/relationships/slide" Target="/ppt/slides/slide5.xml" Id="R2ddd7da7aa084e9c" /><Relationship Type="http://schemas.openxmlformats.org/officeDocument/2006/relationships/slide" Target="/ppt/slides/slide6.xml" Id="R8ad5ab90b99b4fd3" /><Relationship Type="http://schemas.openxmlformats.org/officeDocument/2006/relationships/slide" Target="/ppt/slides/slide7.xml" Id="Ra79c4ad714904223" /><Relationship Type="http://schemas.openxmlformats.org/officeDocument/2006/relationships/slide" Target="/ppt/slides/slide8.xml" Id="R0c690a3c4c01416a" /><Relationship Type="http://schemas.openxmlformats.org/officeDocument/2006/relationships/slide" Target="/ppt/slides/slide9.xml" Id="Raaed465b6697443a" /><Relationship Type="http://schemas.openxmlformats.org/officeDocument/2006/relationships/slide" Target="/ppt/slides/slide10.xml" Id="Rb48996ee204d45d5" /><Relationship Type="http://schemas.openxmlformats.org/officeDocument/2006/relationships/slide" Target="/ppt/slides/slide11.xml" Id="Reecba418a6bc474a" /><Relationship Type="http://schemas.openxmlformats.org/officeDocument/2006/relationships/slide" Target="/ppt/slides/slide12.xml" Id="Rd84f30835bcd42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47657ad2ba46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daeab1cfc7439c" /><Relationship Type="http://schemas.openxmlformats.org/officeDocument/2006/relationships/notesMaster" Target="/ppt/notesMasters/notesMaster1.xml" Id="R15628027cddb4b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8c2167b2084ffa" /><Relationship Type="http://schemas.openxmlformats.org/officeDocument/2006/relationships/notesMaster" Target="/ppt/notesMasters/notesMaster1.xml" Id="R3fb9acef39ec4f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83c7bcec0d4d73" /><Relationship Type="http://schemas.openxmlformats.org/officeDocument/2006/relationships/notesMaster" Target="/ppt/notesMasters/notesMaster1.xml" Id="Re1a2bb12c00e4a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72b7d896ac4c9f" /><Relationship Type="http://schemas.openxmlformats.org/officeDocument/2006/relationships/notesMaster" Target="/ppt/notesMasters/notesMaster1.xml" Id="Rb47494358be141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0bb8d5660e426c" /><Relationship Type="http://schemas.openxmlformats.org/officeDocument/2006/relationships/notesMaster" Target="/ppt/notesMasters/notesMaster1.xml" Id="R823c3624d6c64b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db7e5cc56e43f9" /><Relationship Type="http://schemas.openxmlformats.org/officeDocument/2006/relationships/notesMaster" Target="/ppt/notesMasters/notesMaster1.xml" Id="Rfe8a8b3a2ffd49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872891bd86491f" /><Relationship Type="http://schemas.openxmlformats.org/officeDocument/2006/relationships/notesMaster" Target="/ppt/notesMasters/notesMaster1.xml" Id="R88737e4221d24b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4acaec1da94df0" /><Relationship Type="http://schemas.openxmlformats.org/officeDocument/2006/relationships/notesMaster" Target="/ppt/notesMasters/notesMaster1.xml" Id="Rbbbf8677b45d4a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28b5756a324287" /><Relationship Type="http://schemas.openxmlformats.org/officeDocument/2006/relationships/notesMaster" Target="/ppt/notesMasters/notesMaster1.xml" Id="R2e81b6e7fb2a42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03cf96d8e74f57" /><Relationship Type="http://schemas.openxmlformats.org/officeDocument/2006/relationships/notesMaster" Target="/ppt/notesMasters/notesMaster1.xml" Id="R8b9c967ad9c44f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310885af2240b7" /><Relationship Type="http://schemas.openxmlformats.org/officeDocument/2006/relationships/notesMaster" Target="/ppt/notesMasters/notesMaster1.xml" Id="Rb70a22a290cb4a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8029c16d8d4521" /><Relationship Type="http://schemas.openxmlformats.org/officeDocument/2006/relationships/notesMaster" Target="/ppt/notesMasters/notesMaster1.xml" Id="Ra76df0ef20f74d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分享围绕技术、场景与评价、项目不足、用途与研究方向展开。项目状态来自本地代码和最后更新于2026-10-12的项目记录。源PPT为单页底层原理概览，本次扩展为12页项目复盘。当前材料说明新增A/B/C批仍待SAP部署与真实验收，不把代码能力描述为新增功能已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依据（项目内资料）：</a:t>
            </a:r>
          </a:p>
          <a:p xmlns:a="http://schemas.openxmlformats.org/drawingml/2006/main">
            <a:r>
              <a:t>/Users/tangtang/Desktop/AIProject/sap-chat/发布文档/SAP-AI对话助手-项目说明文档-V2.0.md</a:t>
            </a:r>
          </a:p>
          <a:p xmlns:a="http://schemas.openxmlformats.org/drawingml/2006/main">
            <a:r>
              <a:t>/Users/tangtang/Desktop/AIProject/sap-chat/功能计划书/项目进度/10.11进度/项目改进清单_V1.0_20261011.md</a:t>
            </a:r>
          </a:p>
          <a:p xmlns:a="http://schemas.openxmlformats.org/drawingml/2006/main">
            <a:r>
              <a:t>/Users/tangtang/Desktop/AIProject/sap-chat/backend-abap/00_对象清单与部署顺序_20261011.md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端框架、接口、BSP部署与模型接入来自发布文档和manifest。企业网关提供OpenAI兼容调用格式，本地Ollama等模型属于配置接入能力，不代表当前生产已部署所有模型。前后端各负责一部分，模型不能直接取得数据库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依据（项目内资料）：</a:t>
            </a:r>
          </a:p>
          <a:p xmlns:a="http://schemas.openxmlformats.org/drawingml/2006/main">
            <a:r>
              <a:t>/Users/tangtang/Desktop/AIProject/sap-chat/发布文档/SAP-AI对话助手-项目说明文档-V2.0.md</a:t>
            </a:r>
          </a:p>
          <a:p xmlns:a="http://schemas.openxmlformats.org/drawingml/2006/main">
            <a:r>
              <a:t>/Users/tangtang/Desktop/AIProject/sap-chat/webapp/manifest.json</a:t>
            </a:r>
          </a:p>
          <a:p xmlns:a="http://schemas.openxmlformats.org/drawingml/2006/main">
            <a:r>
              <a:t>/Users/tangtang/Desktop/AIProject/sap-chat/webapp/service/ChatService.js</a:t>
            </a:r>
          </a:p>
          <a:p xmlns:a="http://schemas.openxmlformats.org/drawingml/2006/main">
            <a:r>
              <a:t>/Users/tangtang/Desktop/AIProject/sap-chat/backend-abap/ZCL_AI_LLM_CLIENT.abap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当前项目在localhost:8087运行的真实UI5页面，登录入口为演示身份。没有调用真实SAP业务工具，也没有以截图证明模型质量。Agent（智能代理）在这里指模型按需要调用系统已经开放的工具。场景增量、分页等后端能力仍需要部署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依据（项目内资料）：</a:t>
            </a:r>
          </a:p>
          <a:p xmlns:a="http://schemas.openxmlformats.org/drawingml/2006/main">
            <a:r>
              <a:t>/Users/tangtang/Desktop/AIProject/sap-chat/发布文档/SAP-AI对话助手-项目说明文档-V2.0.md</a:t>
            </a:r>
          </a:p>
          <a:p xmlns:a="http://schemas.openxmlformats.org/drawingml/2006/main">
            <a:r>
              <a:t>/Users/tangtang/Desktop/AIProject/sap-chat/webapp/manifest.json</a:t>
            </a:r>
          </a:p>
          <a:p xmlns:a="http://schemas.openxmlformats.org/drawingml/2006/main">
            <a:r>
              <a:t>/Users/tangtang/Desktop/AIProject/sap-chat/webapp/service/ChatService.js</a:t>
            </a:r>
          </a:p>
          <a:p xmlns:a="http://schemas.openxmlformats.org/drawingml/2006/main">
            <a:r>
              <a:t>/Users/tangtang/Desktop/AIProject/sap-chat/backend-abap/00_对象清单与部署顺序_20261011.md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是受控库存流程的通俗说明，模型选择工具不代表自动获权。Agent最大轮数配置在代码中被钳制为不超过10轮。源码、表数据及结果均依赖后端工具路径。已有只读和权限护栏，但专项加固与真实权限验收仍待进行，不把护栏说成零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依据（项目内资料）：</a:t>
            </a:r>
          </a:p>
          <a:p xmlns:a="http://schemas.openxmlformats.org/drawingml/2006/main">
            <a:r>
              <a:t>/Users/tangtang/Desktop/AIProject/sap-chat/backend-abap/ZCL_AI_AGENT_SERVICE.abap</a:t>
            </a:r>
          </a:p>
          <a:p xmlns:a="http://schemas.openxmlformats.org/drawingml/2006/main">
            <a:r>
              <a:t>/Users/tangtang/Desktop/AIProject/sap-chat/发布文档/SAP-AI对话助手-项目说明文档-V2.0.md</a:t>
            </a:r>
          </a:p>
          <a:p xmlns:a="http://schemas.openxmlformats.org/drawingml/2006/main">
            <a:r>
              <a:t>/Users/tangtang/Desktop/AIProject/sap-chat/功能计划书/项目进度/10.11进度/项目改进清单_V1.0_20261011.md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的能力依赖所配置模型和提供的上下文，本项目没有训练一个SAP专用基础模型。模型无法凭空知道公司系统中的事实，也不能直接操作数据库。当前项目没有向量RAG路径，而是ABAP受控实时取数并注入提示词。模型白名单和新增场景边界属于待部署增量；业务结论不能用“有上下文”直接等同于准确性已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依据（项目内资料）：</a:t>
            </a:r>
          </a:p>
          <a:p xmlns:a="http://schemas.openxmlformats.org/drawingml/2006/main">
            <a:r>
              <a:t>/Users/tangtang/Desktop/AIProject/sap-chat/发布文档/SAP-AI对话助手-项目说明文档-V2.0.md</a:t>
            </a:r>
          </a:p>
          <a:p xmlns:a="http://schemas.openxmlformats.org/drawingml/2006/main">
            <a:r>
              <a:t>/Users/tangtang/Desktop/AIProject/sap-chat/backend-abap/ZCL_AI_AGENT_SERVICE.abap</a:t>
            </a:r>
          </a:p>
          <a:p xmlns:a="http://schemas.openxmlformats.org/drawingml/2006/main">
            <a:r>
              <a:t>/Users/tangtang/Desktop/AIProject/sap-chat/backend-abap/00_对象清单与部署顺序_20261011.md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仅为示例，不包含虚构业务数字或执行结果。ZDPMM702是已登记报表，ZRMM_IDP_0702为对应程序；ZIDPMM455为资料中登记的MIH相关主表。场景边界、报表结果聚焦和模型白名单来自A/B批代码，不能说成现场已验收。库存批次和收发工具来自已有工具域。数据分析包含登记能力和受控SQL路径，均非无限制数据库访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依据（项目内资料）：</a:t>
            </a:r>
          </a:p>
          <a:p xmlns:a="http://schemas.openxmlformats.org/drawingml/2006/main">
            <a:r>
              <a:t>/Users/tangtang/Desktop/AIProject/sap-chat/发布文档/SAP-AI对话助手-项目说明文档-V2.0.md</a:t>
            </a:r>
          </a:p>
          <a:p xmlns:a="http://schemas.openxmlformats.org/drawingml/2006/main">
            <a:r>
              <a:t>/Users/tangtang/Desktop/AIProject/sap-chat/backend-abap/00_对象清单与部署顺序_20261011.md</a:t>
            </a:r>
          </a:p>
          <a:p xmlns:a="http://schemas.openxmlformats.org/drawingml/2006/main">
            <a:r>
              <a:t>/Users/tangtang/Desktop/AIProject/sap-chat/backend-abap/ZCL_AI_AGENT_SERVICE.abap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明确请求打分和评价。本页分数为本次复盘的主观项目成熟度评价，绝非测试结果。评分只衡量功能完成度、场景清晰度及工程完整性，不推断现场准确率。代码8、库存7、数据7、报表6、工程5，等权平均33/5=6.6。评分锚点：4至6分表示可演示但有待验收和工程缺口，7至8分表示限定场景具备实际使用潜力，9至10分需要真实规模使用及稳定性证据。代码8分取其明确的读源码与解释价值，并同时扣除格式和验收缺口。现有29题题库不等于29题通过，项目测评基线表仍为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依据（项目内资料）：</a:t>
            </a:r>
          </a:p>
          <a:p xmlns:a="http://schemas.openxmlformats.org/drawingml/2006/main">
            <a:r>
              <a:t>/Users/tangtang/Desktop/AIProject/sap-chat/发布文档/SAP-AI对话助手-项目说明文档-V2.0.md</a:t>
            </a:r>
          </a:p>
          <a:p xmlns:a="http://schemas.openxmlformats.org/drawingml/2006/main">
            <a:r>
              <a:t>/Users/tangtang/Desktop/AIProject/sap-chat/功能计划书/项目进度/10.11进度/项目改进清单_V1.0_20261011.md</a:t>
            </a:r>
          </a:p>
          <a:p xmlns:a="http://schemas.openxmlformats.org/drawingml/2006/main">
            <a:r>
              <a:t>/Users/tangtang/Desktop/AIProject/sap-chat/webapp/model/evalCases.json</a:t>
            </a:r>
          </a:p>
          <a:p xmlns:a="http://schemas.openxmlformats.org/drawingml/2006/main">
            <a:r>
              <a:t>/Users/tangtang/Desktop/AIProject/sap-chat/backend-abap/ZCL_AI_AGENT_GUARD.abap</a:t>
            </a:r>
          </a:p>
          <a:p xmlns:a="http://schemas.openxmlformats.org/drawingml/2006/main">
            <a:r>
              <a:t>/Users/tangtang/Desktop/AIProject/sap-chat/backend-abap/ZCL_AI_LLM_CLIENT.abap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足来自项目改进清单V1.1。DATA-01记录刷新丢表图；BE-07记录模型客户端瞬时失败无重试、Agent缺备选模型；BE-01记录parse_model_json删除代码围栏和压缩空格；DATA-02记录缺清理机制；PROC-01和部署清单记录仓库与线上对象版本漂移。SEC-01、BE-03、BE-06等安全项目已按内网试用策略暂缓，扩大用户范围前补齐属于项目已有计划，不代表本次自行要求马上实施。已完成的会话分页、置顶修复及JSON参数转义不再写成未修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依据（项目内资料）：</a:t>
            </a:r>
          </a:p>
          <a:p xmlns:a="http://schemas.openxmlformats.org/drawingml/2006/main">
            <a:r>
              <a:t>/Users/tangtang/Desktop/AIProject/sap-chat/功能计划书/项目进度/10.11进度/项目改进清单_V1.0_20261011.md</a:t>
            </a:r>
          </a:p>
          <a:p xmlns:a="http://schemas.openxmlformats.org/drawingml/2006/main">
            <a:r>
              <a:t>/Users/tangtang/Desktop/AIProject/sap-chat/backend-abap/00_对象清单与部署顺序_20261011.md</a:t>
            </a:r>
          </a:p>
          <a:p xmlns:a="http://schemas.openxmlformats.org/drawingml/2006/main">
            <a:r>
              <a:t>/Users/tangtang/Desktop/AIProject/sap-chat/backend-abap/ZCL_AI_AGENT_GUARD.abap</a:t>
            </a:r>
          </a:p>
          <a:p xmlns:a="http://schemas.openxmlformats.org/drawingml/2006/main">
            <a:r>
              <a:t>/Users/tangtang/Desktop/AIProject/sap-chat/backend-abap/ZCL_AI_LLM_CLIENT.abap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讨论适用人群和预期用途，不声称已测出节省时间、降本幅度或用户满意度。程序分析供开发者辅助理解；数据与报表分析供有权限的业务顾问和骨干使用；模型和登记工具由管理员管理。是否扩大开放须沿项目既定上线门槛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依据（项目内资料）：</a:t>
            </a:r>
          </a:p>
          <a:p xmlns:a="http://schemas.openxmlformats.org/drawingml/2006/main">
            <a:r>
              <a:t>/Users/tangtang/Desktop/AIProject/sap-chat/发布文档/SAP-AI对话助手-项目说明文档-V2.0.md</a:t>
            </a:r>
          </a:p>
          <a:p xmlns:a="http://schemas.openxmlformats.org/drawingml/2006/main">
            <a:r>
              <a:t>/Users/tangtang/Desktop/AIProject/sap-chat/功能计划书/项目进度/10.11进度/项目改进清单_V1.0_20261011.md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顺序为基于现有复盘的建议，不是已批准的排期。现有evalCases.json共29题：DATA12、REPORT5、INVENTORY3、CODE5、AUTO4；没有真实通过率记录，因此不在PPT中编造任何指标。优先先跑现有SAP基线，部署增量后复测，再进行稳定性和安全改造。异步化（提交任务后查看进度）需用实际耗时和并发数据决定。扩展前的门槛由团队约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依据（项目内资料）：</a:t>
            </a:r>
          </a:p>
          <a:p xmlns:a="http://schemas.openxmlformats.org/drawingml/2006/main">
            <a:r>
              <a:t>/Users/tangtang/Desktop/AIProject/sap-chat/功能计划书/项目进度/10.11进度/项目改进清单_V1.0_20261011.md</a:t>
            </a:r>
          </a:p>
          <a:p xmlns:a="http://schemas.openxmlformats.org/drawingml/2006/main">
            <a:r>
              <a:t>/Users/tangtang/Desktop/AIProject/sap-chat/backend-abap/00_对象清单与部署顺序_20261011.md</a:t>
            </a:r>
          </a:p>
          <a:p xmlns:a="http://schemas.openxmlformats.org/drawingml/2006/main">
            <a:r>
              <a:t>/Users/tangtang/Desktop/AIProject/sap-chat/webapp/model/evalCases.json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全部属于研究建议，不是现有功能。业务术语与指标字典用于研究企业业务语义；知识检索即RAG（先检索资料再让模型回答），目前项目尚未实施；模型选型用现有场景题库与真实业务题比较质量、时延和调用成本；长任务体验对应复盘中的BE-10异步化，同时研究结果引用和跨场景上下文。没有为未做的研究编造效果或目标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依据（项目内资料）：</a:t>
            </a:r>
          </a:p>
          <a:p xmlns:a="http://schemas.openxmlformats.org/drawingml/2006/main">
            <a:r>
              <a:t>/Users/tangtang/Desktop/AIProject/sap-chat/发布文档/SAP-AI对话助手-项目说明文档-V2.0.md</a:t>
            </a:r>
          </a:p>
          <a:p xmlns:a="http://schemas.openxmlformats.org/drawingml/2006/main">
            <a:r>
              <a:t>/Users/tangtang/Desktop/AIProject/sap-chat/功能计划书/项目进度/10.11进度/项目改进清单_V1.0_20261011.md</a:t>
            </a:r>
          </a:p>
          <a:p xmlns:a="http://schemas.openxmlformats.org/drawingml/2006/main">
            <a:r>
              <a:t>/Users/tangtang/Desktop/AIProject/sap-chat/webapp/model/evalCases.json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是本次主观项目复盘判断。基础链路与代码能力具备实际使用潜力，下一阶段的关键证据是部署验收、真实问题测评、故障恢复和结果回放。保持小范围、可复核的使用方式，具体开放范围沿用项目已有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依据（项目内资料）：</a:t>
            </a:r>
          </a:p>
          <a:p xmlns:a="http://schemas.openxmlformats.org/drawingml/2006/main">
            <a:r>
              <a:t>/Users/tangtang/Desktop/AIProject/sap-chat/发布文档/SAP-AI对话助手-项目说明文档-V2.0.md</a:t>
            </a:r>
          </a:p>
          <a:p xmlns:a="http://schemas.openxmlformats.org/drawingml/2006/main">
            <a:r>
              <a:t>/Users/tangtang/Desktop/AIProject/sap-chat/功能计划书/项目进度/10.11进度/项目改进清单_V1.0_20261011.md</a:t>
            </a:r>
          </a:p>
          <a:p xmlns:a="http://schemas.openxmlformats.org/drawingml/2006/main">
            <a:r>
              <a:t>/Users/tangtang/Desktop/AIProject/sap-chat/backend-abap/00_对象清单与部署顺序_20261011.md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2fa7be7264e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a493facaa44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3d72f55da42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d0c3e0ff842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15aef04aa64a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273ef15714e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5BAB66-6970-491E-8CEA-3CCA584345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8B283D-22A1-4C50-8FAF-85A130C828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EDC750-FEA5-4309-A764-7B4A3EFC8E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B3151C-CC93-4ABA-813C-82A6C928A9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0F489E-34BC-46C6-8EF9-AF39E72634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BA1BA6-1896-40C2-859A-D7D00217D3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F0611B-E26E-459D-9F4A-64181C52A1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1254DCC-074B-4390-9EFA-4C2248377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573C46-FC56-4708-B263-91C9CB483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631C56-45EB-458C-8394-8A25BE07C3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8599b5a3ac4f64" /><Relationship Type="http://schemas.openxmlformats.org/officeDocument/2006/relationships/slideLayout" Target="/ppt/slideLayouts/slideLayout1.xml" Id="Rfb1bcc8c2c3f45e2" /><Relationship Type="http://schemas.openxmlformats.org/officeDocument/2006/relationships/slideLayout" Target="/ppt/slideLayouts/slideLayout2.xml" Id="R52925666d1814df4" /><Relationship Type="http://schemas.openxmlformats.org/officeDocument/2006/relationships/slideLayout" Target="/ppt/slideLayouts/slideLayout3.xml" Id="Rdbd60d5078634829" /><Relationship Type="http://schemas.openxmlformats.org/officeDocument/2006/relationships/slideLayout" Target="/ppt/slideLayouts/slideLayout4.xml" Id="R2fbc29a8619847e6" /><Relationship Type="http://schemas.openxmlformats.org/officeDocument/2006/relationships/slideLayout" Target="/ppt/slideLayouts/slideLayout5.xml" Id="Rac2e8c275ef64a86" /><Relationship Type="http://schemas.openxmlformats.org/officeDocument/2006/relationships/slideLayout" Target="/ppt/slideLayouts/slideLayout6.xml" Id="R17f037d665914d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1bcc8c2c3f45e2"/>
    <p:sldLayoutId xmlns:r="http://schemas.openxmlformats.org/officeDocument/2006/relationships" id="2147483650" r:id="R52925666d1814df4"/>
    <p:sldLayoutId xmlns:r="http://schemas.openxmlformats.org/officeDocument/2006/relationships" id="2147483651" r:id="Rdbd60d5078634829"/>
    <p:sldLayoutId xmlns:r="http://schemas.openxmlformats.org/officeDocument/2006/relationships" id="2147483652" r:id="R2fbc29a8619847e6"/>
    <p:sldLayoutId xmlns:r="http://schemas.openxmlformats.org/officeDocument/2006/relationships" id="2147483653" r:id="Rac2e8c275ef64a86"/>
    <p:sldLayoutId xmlns:r="http://schemas.openxmlformats.org/officeDocument/2006/relationships" id="2147483654" r:id="R17f037d665914d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b75ede51d24ed4" /><Relationship Type="http://schemas.openxmlformats.org/officeDocument/2006/relationships/notesSlide" Target="/ppt/notesSlides/notesSlide1.xml" Id="Re07329d9b4b14d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615960c23d46f4" /><Relationship Type="http://schemas.openxmlformats.org/officeDocument/2006/relationships/notesSlide" Target="/ppt/notesSlides/notesSlide2.xml" Id="R65b074a6df9f44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7b2452a67949b1" /><Relationship Type="http://schemas.openxmlformats.org/officeDocument/2006/relationships/image" Target="/ppt/media/image.jpeg" Id="Rc6d4899f2910440b" /><Relationship Type="http://schemas.openxmlformats.org/officeDocument/2006/relationships/notesSlide" Target="/ppt/notesSlides/notesSlide3.xml" Id="R58252a414fa84f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3e55e729064578" /><Relationship Type="http://schemas.openxmlformats.org/officeDocument/2006/relationships/notesSlide" Target="/ppt/notesSlides/notesSlide4.xml" Id="R5c9b069339714b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8c97991f74833" /><Relationship Type="http://schemas.openxmlformats.org/officeDocument/2006/relationships/notesSlide" Target="/ppt/notesSlides/notesSlide5.xml" Id="Rf0292accce114d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556a4fd9ed469d" /><Relationship Type="http://schemas.openxmlformats.org/officeDocument/2006/relationships/notesSlide" Target="/ppt/notesSlides/notesSlide6.xml" Id="Rfcdad7c965f246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9fc9b586424f75" /><Relationship Type="http://schemas.openxmlformats.org/officeDocument/2006/relationships/notesSlide" Target="/ppt/notesSlides/notesSlide7.xml" Id="Rf3ae1bdbc6834f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45f6bc2f1f4735" /><Relationship Type="http://schemas.openxmlformats.org/officeDocument/2006/relationships/notesSlide" Target="/ppt/notesSlides/notesSlide8.xml" Id="R147508c42de540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340a8eecf04849" /><Relationship Type="http://schemas.openxmlformats.org/officeDocument/2006/relationships/notesSlide" Target="/ppt/notesSlides/notesSlide9.xml" Id="Rcda2a63894da4f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0f8ae51e34be0" /><Relationship Type="http://schemas.openxmlformats.org/officeDocument/2006/relationships/notesSlide" Target="/ppt/notesSlides/notesSlide10.xml" Id="R4f28a777307b41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4e661786284e8d" /><Relationship Type="http://schemas.openxmlformats.org/officeDocument/2006/relationships/notesSlide" Target="/ppt/notesSlides/notesSlide11.xml" Id="R3c91517020094e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22f69c99244ef4" /><Relationship Type="http://schemas.openxmlformats.org/officeDocument/2006/relationships/notesSlide" Target="/ppt/notesSlides/notesSlide12.xml" Id="R376993892d6149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AP AI 对话助手">
            <a:extLst xmlns:a="http://schemas.openxmlformats.org/drawingml/2006/main">
              <a:ext uri="{FF2B5EF4-FFF2-40B4-BE49-F238E27FC236}">
                <a16:creationId xmlns:a16="http://schemas.microsoft.com/office/drawing/2014/main" id="{45FB53D7-FFF3-47D5-9B45-C618EEC3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SAP AI 对话助手</a:t>
            </a:r>
          </a:p>
        </p:txBody>
      </p:sp>
      <p:sp>
        <p:nvSpPr>
          <p:cNvPr id="2" name="现在能帮上什么忙？">
            <a:extLst xmlns:a="http://schemas.openxmlformats.org/drawingml/2006/main">
              <a:ext uri="{FF2B5EF4-FFF2-40B4-BE49-F238E27FC236}">
                <a16:creationId xmlns:a16="http://schemas.microsoft.com/office/drawing/2014/main" id="{B76A83B1-F1D6-4955-B0BF-BE722154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现在能帮上什么忙？</a:t>
            </a:r>
          </a:p>
        </p:txBody>
      </p:sp>
      <p:sp>
        <p:nvSpPr>
          <p:cNvPr id="3" name="技术怎么搭，业务怎么用">
            <a:extLst xmlns:a="http://schemas.openxmlformats.org/drawingml/2006/main">
              <a:ext uri="{FF2B5EF4-FFF2-40B4-BE49-F238E27FC236}">
                <a16:creationId xmlns:a16="http://schemas.microsoft.com/office/drawing/2014/main" id="{5497FFFD-6989-4372-83D7-7AF1F9CB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BDD1E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BDD1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BDD1E6"/>
                </a:solidFill>
                <a:latin typeface="Noto Sans CJK SC"/>
                <a:ea typeface="Noto Sans CJK SC"/>
                <a:cs typeface="Noto Sans CJK SC"/>
              </a:rPr>
              <a:t>技术怎么搭，业务怎么用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BDD1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BDD1E6"/>
                </a:solidFill>
                <a:latin typeface="Noto Sans CJK SC"/>
                <a:ea typeface="Noto Sans CJK SC"/>
                <a:cs typeface="Noto Sans CJK SC"/>
              </a:rPr>
              <a:t>效果值几分，短板和下一步是什么</a:t>
            </a:r>
          </a:p>
        </p:txBody>
      </p:sp>
      <p:sp>
        <p:nvSpPr>
          <p:cNvPr id="4" name="项目复盘版">
            <a:extLst xmlns:a="http://schemas.openxmlformats.org/drawingml/2006/main">
              <a:ext uri="{FF2B5EF4-FFF2-40B4-BE49-F238E27FC236}">
                <a16:creationId xmlns:a16="http://schemas.microsoft.com/office/drawing/2014/main" id="{282DC206-3B55-40B0-A460-66E83760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9BDD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A9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A9BDD3"/>
                </a:solidFill>
                <a:latin typeface="Noto Sans CJK SC"/>
                <a:ea typeface="Noto Sans CJK SC"/>
                <a:cs typeface="Noto Sans CJK SC"/>
              </a:rPr>
              <a:t>项目复盘版</a:t>
            </a:r>
          </a:p>
        </p:txBody>
      </p:sp>
      <p:sp>
        <p:nvSpPr>
          <p:cNvPr id="5" name="2026-10-13">
            <a:extLst xmlns:a="http://schemas.openxmlformats.org/drawingml/2006/main">
              <a:ext uri="{FF2B5EF4-FFF2-40B4-BE49-F238E27FC236}">
                <a16:creationId xmlns:a16="http://schemas.microsoft.com/office/drawing/2014/main" id="{80C28609-87AC-4BD3-ABDE-5EA58529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89597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75" b="0">
                <a:solidFill>
                  <a:srgbClr val="A9BDD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575" b="0">
                <a:solidFill>
                  <a:srgbClr val="A9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A9BDD3"/>
                </a:solidFill>
                <a:latin typeface="Noto Sans CJK SC"/>
                <a:ea typeface="Noto Sans CJK SC"/>
                <a:cs typeface="Noto Sans CJK SC"/>
              </a:rPr>
              <a:t>2026-10-13</a:t>
            </a:r>
          </a:p>
        </p:txBody>
      </p:sp>
    </p:spTree>
    <p:extLst>
      <p:ext uri="{BB962C8B-B14F-4D97-AF65-F5344CB8AC3E}">
        <p14:creationId xmlns:p14="http://schemas.microsoft.com/office/powerpoint/2010/main" val="15517460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三层技术体系">
            <a:extLst xmlns:a="http://schemas.openxmlformats.org/drawingml/2006/main">
              <a:ext uri="{FF2B5EF4-FFF2-40B4-BE49-F238E27FC236}">
                <a16:creationId xmlns:a16="http://schemas.microsoft.com/office/drawing/2014/main" id="{E3B8E6CF-1A3C-4372-AD87-20A149D4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三层技术体系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A81DBC40-3AD7-4908-83C5-4254E5C0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" name="页面收问题，SAP 后端拿资料，模型读资料后组织答案">
            <a:extLst xmlns:a="http://schemas.openxmlformats.org/drawingml/2006/main">
              <a:ext uri="{FF2B5EF4-FFF2-40B4-BE49-F238E27FC236}">
                <a16:creationId xmlns:a16="http://schemas.microsoft.com/office/drawing/2014/main" id="{D26E28C3-0611-4C44-9031-06CF8BD0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页面收问题，SAP 后端拿资料，模型读资料后组织答案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F2954-277A-458D-9F8B-D9732B083764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820400" cy="3562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76400"/>
                <a:gridCol w="3619500"/>
                <a:gridCol w="5524500"/>
              </a:tblGrid>
              <a:tr h="890588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这一层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主要技术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用大白话说，它负责什么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</a:tr>
              <a:tr h="890588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前端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SAP UI5，SAP 的网页框架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JavaScript / XML / CSS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接收问题，展示答案、表格和图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打包后放在 SAP 的 BSP 网页应用里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</a:tr>
              <a:tr h="890588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后端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ABAP，SAP 的业务开发语言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OData，前后端传数据的接口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像调度员：选场景、查权限、拿真实资料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管理任务，提交已登记报表的后台作业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</a:tr>
              <a:tr h="890588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模型层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企业大模型网关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可按配置接入本地模型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像会读材料的同事：理解问题、选择工具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解释数据和代码，再把结果说清楚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5" name="OpenAI 兼容接口就是统一的模型调用格式，便于按配置更换模型。">
            <a:extLst xmlns:a="http://schemas.openxmlformats.org/drawingml/2006/main">
              <a:ext uri="{FF2B5EF4-FFF2-40B4-BE49-F238E27FC236}">
                <a16:creationId xmlns:a16="http://schemas.microsoft.com/office/drawing/2014/main" id="{4D87EBFD-08D4-49A9-A5ED-7A954C38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26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OpenAI 兼容接口就是统一的模型调用格式，便于按配置更换模型。</a:t>
            </a:r>
          </a:p>
        </p:txBody>
      </p:sp>
    </p:spTree>
    <p:extLst>
      <p:ext uri="{BB962C8B-B14F-4D97-AF65-F5344CB8AC3E}">
        <p14:creationId xmlns:p14="http://schemas.microsoft.com/office/powerpoint/2010/main" val="227329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前端：让用户通过聊天办事">
            <a:extLst xmlns:a="http://schemas.openxmlformats.org/drawingml/2006/main">
              <a:ext uri="{FF2B5EF4-FFF2-40B4-BE49-F238E27FC236}">
                <a16:creationId xmlns:a16="http://schemas.microsoft.com/office/drawing/2014/main" id="{11D0844B-64C6-4591-A464-EFF25BC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前端：让用户通过聊天办事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34509E70-0078-41DE-9E58-6A00A244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" name="普通对话做问答，Agent 调工具，也就是按步骤查资料、运行报表">
            <a:extLst xmlns:a="http://schemas.openxmlformats.org/drawingml/2006/main">
              <a:ext uri="{FF2B5EF4-FFF2-40B4-BE49-F238E27FC236}">
                <a16:creationId xmlns:a16="http://schemas.microsoft.com/office/drawing/2014/main" id="{480D6C33-0FCA-40BA-A384-D9400696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普通对话做问答，Agent 调工具，也就是按步骤查资料、运行报表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F715A-D35E-4F3B-A558-B69546742D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4899f2910440b"/>
          <a:stretch xmlns:a="http://schemas.openxmlformats.org/drawingml/2006/main"/>
        </p:blipFill>
        <p:spPr>
          <a:xfrm xmlns:a="http://schemas.openxmlformats.org/drawingml/2006/main">
            <a:off x="609600" y="1829991"/>
            <a:ext cx="7734300" cy="4350544"/>
          </a:xfrm>
          <a:prstGeom xmlns:a="http://schemas.openxmlformats.org/drawingml/2006/main" prst="rect">
            <a:avLst/>
          </a:prstGeom>
        </p:spPr>
      </p:pic>
      <p:sp>
        <p:nvSpPr>
          <p:cNvPr id="5" name="场景入口">
            <a:extLst xmlns:a="http://schemas.openxmlformats.org/drawingml/2006/main">
              <a:ext uri="{FF2B5EF4-FFF2-40B4-BE49-F238E27FC236}">
                <a16:creationId xmlns:a16="http://schemas.microsoft.com/office/drawing/2014/main" id="{25EC8D7C-D4F9-4F06-A639-A89765C1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764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rPr>
              <a:t>场景入口</a:t>
            </a:r>
          </a:p>
        </p:txBody>
      </p:sp>
      <p:sp>
        <p:nvSpPr>
          <p:cNvPr id="6" name="代码、数据、库存、报表">
            <a:extLst xmlns:a="http://schemas.openxmlformats.org/drawingml/2006/main">
              <a:ext uri="{FF2B5EF4-FFF2-40B4-BE49-F238E27FC236}">
                <a16:creationId xmlns:a16="http://schemas.microsoft.com/office/drawing/2014/main" id="{169F532D-2419-445A-A0F3-B9821F1B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90775"/>
            <a:ext cx="2914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rPr>
              <a:t>代码、数据、库存、报表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rPr>
              <a:t>分别有自己的工具范围</a:t>
            </a:r>
          </a:p>
        </p:txBody>
      </p:sp>
      <p:sp>
        <p:nvSpPr>
          <p:cNvPr id="7" name="结果呈现">
            <a:extLst xmlns:a="http://schemas.openxmlformats.org/drawingml/2006/main">
              <a:ext uri="{FF2B5EF4-FFF2-40B4-BE49-F238E27FC236}">
                <a16:creationId xmlns:a16="http://schemas.microsoft.com/office/drawing/2014/main" id="{0AAE784E-9C10-411A-B130-BA99A29E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861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rPr>
              <a:t>结果呈现</a:t>
            </a:r>
          </a:p>
        </p:txBody>
      </p:sp>
      <p:sp>
        <p:nvSpPr>
          <p:cNvPr id="8" name="文字说明、来源表格和图">
            <a:extLst xmlns:a="http://schemas.openxmlformats.org/drawingml/2006/main">
              <a:ext uri="{FF2B5EF4-FFF2-40B4-BE49-F238E27FC236}">
                <a16:creationId xmlns:a16="http://schemas.microsoft.com/office/drawing/2014/main" id="{4765AEBE-BA7D-4363-AB51-BBE7BB3C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0"/>
            <a:ext cx="2914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rPr>
              <a:t>文字说明、来源表格和图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rPr>
              <a:t>支持查看执行过程</a:t>
            </a:r>
          </a:p>
        </p:txBody>
      </p:sp>
      <p:sp>
        <p:nvSpPr>
          <p:cNvPr id="9" name="使用体验">
            <a:extLst xmlns:a="http://schemas.openxmlformats.org/drawingml/2006/main">
              <a:ext uri="{FF2B5EF4-FFF2-40B4-BE49-F238E27FC236}">
                <a16:creationId xmlns:a16="http://schemas.microsoft.com/office/drawing/2014/main" id="{A1456056-99C7-4FEC-9405-25C3B61E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9587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rPr>
              <a:t>使用体验</a:t>
            </a:r>
          </a:p>
        </p:txBody>
      </p:sp>
      <p:sp>
        <p:nvSpPr>
          <p:cNvPr id="10" name="会话历史、搜索、导出">
            <a:extLst xmlns:a="http://schemas.openxmlformats.org/drawingml/2006/main">
              <a:ext uri="{FF2B5EF4-FFF2-40B4-BE49-F238E27FC236}">
                <a16:creationId xmlns:a16="http://schemas.microsoft.com/office/drawing/2014/main" id="{8A9C3818-0947-4E9E-B0F7-056764C8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0070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rPr>
              <a:t>会话历史、搜索、导出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rPr>
              <a:t>让查过的内容方便回看</a:t>
            </a:r>
          </a:p>
        </p:txBody>
      </p:sp>
      <p:sp>
        <p:nvSpPr>
          <p:cNvPr id="11" name="本地演示模式截图，只展示交互；不代表真实 SAP 数据或新增功能已验收">
            <a:extLst xmlns:a="http://schemas.openxmlformats.org/drawingml/2006/main">
              <a:ext uri="{FF2B5EF4-FFF2-40B4-BE49-F238E27FC236}">
                <a16:creationId xmlns:a16="http://schemas.microsoft.com/office/drawing/2014/main" id="{B79F0B4C-1F7F-48C2-BC89-E71979D6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本地演示模式截图，只展示交互；不代表真实 SAP 数据或新增功能已验收</a:t>
            </a:r>
          </a:p>
        </p:txBody>
      </p:sp>
    </p:spTree>
    <p:extLst>
      <p:ext uri="{BB962C8B-B14F-4D97-AF65-F5344CB8AC3E}">
        <p14:creationId xmlns:p14="http://schemas.microsoft.com/office/powerpoint/2010/main" val="713065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后端：取资料，也管住执行范围">
            <a:extLst xmlns:a="http://schemas.openxmlformats.org/drawingml/2006/main">
              <a:ext uri="{FF2B5EF4-FFF2-40B4-BE49-F238E27FC236}">
                <a16:creationId xmlns:a16="http://schemas.microsoft.com/office/drawing/2014/main" id="{C4F83250-123E-45A5-A528-985DCB85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后端：取资料，也管住执行范围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25F0009F-AC1E-4724-914F-5324174C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" name="以“查某个工厂的库存”为例">
            <a:extLst xmlns:a="http://schemas.openxmlformats.org/drawingml/2006/main">
              <a:ext uri="{FF2B5EF4-FFF2-40B4-BE49-F238E27FC236}">
                <a16:creationId xmlns:a16="http://schemas.microsoft.com/office/drawing/2014/main" id="{D5CC1BB5-DCB3-44B0-815A-269C9915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以“查某个工厂的库存”为例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A2B55A93-1E51-4CEE-943D-9269246A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76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D5871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D587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D58718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5" name="识别场景">
            <a:extLst xmlns:a="http://schemas.openxmlformats.org/drawingml/2006/main">
              <a:ext uri="{FF2B5EF4-FFF2-40B4-BE49-F238E27FC236}">
                <a16:creationId xmlns:a16="http://schemas.microsoft.com/office/drawing/2014/main" id="{1E7171E8-1206-43A0-8BAF-D9AAD145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43100"/>
            <a:ext cx="180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识别场景</a:t>
            </a:r>
          </a:p>
        </p:txBody>
      </p:sp>
      <p:sp>
        <p:nvSpPr>
          <p:cNvPr id="6" name="判断是库存查询，再确认物料和工厂。信息不够就追问。">
            <a:extLst xmlns:a="http://schemas.openxmlformats.org/drawingml/2006/main">
              <a:ext uri="{FF2B5EF4-FFF2-40B4-BE49-F238E27FC236}">
                <a16:creationId xmlns:a16="http://schemas.microsoft.com/office/drawing/2014/main" id="{F328CD34-8791-46FA-8BA9-FB1CA4C7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43100"/>
            <a:ext cx="7791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rPr>
              <a:t>判断是库存查询，再确认物料和工厂。信息不够就追问。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79EAE513-3E59-4721-9ACD-4C821D13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76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D5871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D587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D58718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8" name="检查范围">
            <a:extLst xmlns:a="http://schemas.openxmlformats.org/drawingml/2006/main">
              <a:ext uri="{FF2B5EF4-FFF2-40B4-BE49-F238E27FC236}">
                <a16:creationId xmlns:a16="http://schemas.microsoft.com/office/drawing/2014/main" id="{3F8ECBD1-3441-445A-A12D-1B5F2B2F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05100"/>
            <a:ext cx="180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检查范围</a:t>
            </a:r>
          </a:p>
        </p:txBody>
      </p:sp>
      <p:sp>
        <p:nvSpPr>
          <p:cNvPr id="9" name="只开放已允许的工具，并沿用 SAP 的访问权限。">
            <a:extLst xmlns:a="http://schemas.openxmlformats.org/drawingml/2006/main">
              <a:ext uri="{FF2B5EF4-FFF2-40B4-BE49-F238E27FC236}">
                <a16:creationId xmlns:a16="http://schemas.microsoft.com/office/drawing/2014/main" id="{EBE4A36F-B0F1-4AFD-875C-C5816A45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05100"/>
            <a:ext cx="7791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rPr>
              <a:t>只开放已允许的工具，并沿用 SAP 的访问权限。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9A7EB154-6AC5-4168-994A-9172A3BA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76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D5871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D587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D58718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1" name="取得事实">
            <a:extLst xmlns:a="http://schemas.openxmlformats.org/drawingml/2006/main">
              <a:ext uri="{FF2B5EF4-FFF2-40B4-BE49-F238E27FC236}">
                <a16:creationId xmlns:a16="http://schemas.microsoft.com/office/drawing/2014/main" id="{4555DDB0-EB4F-449D-9424-A14FC8FD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67100"/>
            <a:ext cx="180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取得事实</a:t>
            </a:r>
          </a:p>
        </p:txBody>
      </p:sp>
      <p:sp>
        <p:nvSpPr>
          <p:cNvPr id="12" name="从 SAP 读取库存，把结果和单位一起交给模型。">
            <a:extLst xmlns:a="http://schemas.openxmlformats.org/drawingml/2006/main">
              <a:ext uri="{FF2B5EF4-FFF2-40B4-BE49-F238E27FC236}">
                <a16:creationId xmlns:a16="http://schemas.microsoft.com/office/drawing/2014/main" id="{DCF71BEF-9879-48D5-96B0-B8A2E776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67100"/>
            <a:ext cx="7791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rPr>
              <a:t>从 SAP 读取库存，把结果和单位一起交给模型。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26EFDD03-D017-4858-9462-340BC2D6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6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D5871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D587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D58718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4" name="继续分析">
            <a:extLst xmlns:a="http://schemas.openxmlformats.org/drawingml/2006/main">
              <a:ext uri="{FF2B5EF4-FFF2-40B4-BE49-F238E27FC236}">
                <a16:creationId xmlns:a16="http://schemas.microsoft.com/office/drawing/2014/main" id="{0BE8A2FD-38A1-4A9E-BF13-6C2F5E2C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29100"/>
            <a:ext cx="180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继续分析</a:t>
            </a:r>
          </a:p>
        </p:txBody>
      </p:sp>
      <p:sp>
        <p:nvSpPr>
          <p:cNvPr id="15" name="模型还需要资料时，再请求工具。工具循环最多 10 轮。">
            <a:extLst xmlns:a="http://schemas.openxmlformats.org/drawingml/2006/main">
              <a:ext uri="{FF2B5EF4-FFF2-40B4-BE49-F238E27FC236}">
                <a16:creationId xmlns:a16="http://schemas.microsoft.com/office/drawing/2014/main" id="{01F3704A-32FA-424D-B688-18D80F4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29100"/>
            <a:ext cx="7791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rPr>
              <a:t>模型还需要资料时，再请求工具。工具循环最多 10 轮。</a:t>
            </a:r>
          </a:p>
        </p:txBody>
      </p:sp>
      <p:sp>
        <p:nvSpPr>
          <p:cNvPr id="16" name="05">
            <a:extLst xmlns:a="http://schemas.openxmlformats.org/drawingml/2006/main">
              <a:ext uri="{FF2B5EF4-FFF2-40B4-BE49-F238E27FC236}">
                <a16:creationId xmlns:a16="http://schemas.microsoft.com/office/drawing/2014/main" id="{1C1C2E21-4F8D-4680-A2A4-94BF3B37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6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D5871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D587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D58718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17" name="返回结果">
            <a:extLst xmlns:a="http://schemas.openxmlformats.org/drawingml/2006/main">
              <a:ext uri="{FF2B5EF4-FFF2-40B4-BE49-F238E27FC236}">
                <a16:creationId xmlns:a16="http://schemas.microsoft.com/office/drawing/2014/main" id="{1B485678-94F2-4E33-9585-6398FE3D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180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返回结果</a:t>
            </a:r>
          </a:p>
        </p:txBody>
      </p:sp>
      <p:sp>
        <p:nvSpPr>
          <p:cNvPr id="18" name="界面展示回答和执行记录，方便用户查来源、做复核。">
            <a:extLst xmlns:a="http://schemas.openxmlformats.org/drawingml/2006/main">
              <a:ext uri="{FF2B5EF4-FFF2-40B4-BE49-F238E27FC236}">
                <a16:creationId xmlns:a16="http://schemas.microsoft.com/office/drawing/2014/main" id="{17828E52-692C-4533-A60B-7F3138A2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91100"/>
            <a:ext cx="7791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rPr>
              <a:t>界面展示回答和执行记录，方便用户查来源、做复核。</a:t>
            </a:r>
          </a:p>
        </p:txBody>
      </p:sp>
      <p:sp>
        <p:nvSpPr>
          <p:cNvPr id="19" name="Agent 就是“会按步骤调工具的助手”。真正查数、校验和执行的是 SAP 后端。">
            <a:extLst xmlns:a="http://schemas.openxmlformats.org/drawingml/2006/main">
              <a:ext uri="{FF2B5EF4-FFF2-40B4-BE49-F238E27FC236}">
                <a16:creationId xmlns:a16="http://schemas.microsoft.com/office/drawing/2014/main" id="{7716A642-45D4-4F7A-A3B1-CE1565EF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26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Agent 就是“会按步骤调工具的助手”。真正查数、校验和执行的是 SAP 后端。</a:t>
            </a:r>
          </a:p>
        </p:txBody>
      </p:sp>
    </p:spTree>
    <p:extLst>
      <p:ext uri="{BB962C8B-B14F-4D97-AF65-F5344CB8AC3E}">
        <p14:creationId xmlns:p14="http://schemas.microsoft.com/office/powerpoint/2010/main" val="4654892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2C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模型能力与边界">
            <a:extLst xmlns:a="http://schemas.openxmlformats.org/drawingml/2006/main">
              <a:ext uri="{FF2B5EF4-FFF2-40B4-BE49-F238E27FC236}">
                <a16:creationId xmlns:a16="http://schemas.microsoft.com/office/drawing/2014/main" id="{68BCD64A-F799-4119-9F67-17C00973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模型能力与边界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581D9C13-EE5F-4CE5-8948-5999AA0A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FB4C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9FB4C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FB4CB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3" name="像一个会读材料、会解释的同事">
            <a:extLst xmlns:a="http://schemas.openxmlformats.org/drawingml/2006/main">
              <a:ext uri="{FF2B5EF4-FFF2-40B4-BE49-F238E27FC236}">
                <a16:creationId xmlns:a16="http://schemas.microsoft.com/office/drawing/2014/main" id="{4BDB11F3-99D6-4487-8B3D-A8BCF4A6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9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像一个会读材料、会解释的同事</a:t>
            </a:r>
          </a:p>
        </p:txBody>
      </p:sp>
      <p:sp>
        <p:nvSpPr>
          <p:cNvPr id="4" name="模型擅长什么">
            <a:extLst xmlns:a="http://schemas.openxmlformats.org/drawingml/2006/main">
              <a:ext uri="{FF2B5EF4-FFF2-40B4-BE49-F238E27FC236}">
                <a16:creationId xmlns:a16="http://schemas.microsoft.com/office/drawing/2014/main" id="{E6AD8A8D-8ABF-4045-9F54-C0ECC2B6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2BD6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F2BD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F2BD65"/>
                </a:solidFill>
                <a:latin typeface="Noto Sans CJK SC"/>
                <a:ea typeface="Noto Sans CJK SC"/>
                <a:cs typeface="Noto Sans CJK SC"/>
              </a:rPr>
              <a:t>模型擅长什么</a:t>
            </a:r>
          </a:p>
        </p:txBody>
      </p:sp>
      <p:sp>
        <p:nvSpPr>
          <p:cNvPr id="5" name="理解自然语言，整理多轮问题">
            <a:extLst xmlns:a="http://schemas.openxmlformats.org/drawingml/2006/main">
              <a:ext uri="{FF2B5EF4-FFF2-40B4-BE49-F238E27FC236}">
                <a16:creationId xmlns:a16="http://schemas.microsoft.com/office/drawing/2014/main" id="{B6C1542E-2593-4ED7-BB57-7976B787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4953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rPr>
              <a:t>理解自然语言，整理多轮问题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rPr>
              <a:t>解释代码、汇总数据、给出排查思路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rPr>
              <a:t>选择已提供的工具，再组织回答</a:t>
            </a:r>
          </a:p>
        </p:txBody>
      </p:sp>
      <p:sp>
        <p:nvSpPr>
          <p:cNvPr id="6" name="项目给它补了什么">
            <a:extLst xmlns:a="http://schemas.openxmlformats.org/drawingml/2006/main">
              <a:ext uri="{FF2B5EF4-FFF2-40B4-BE49-F238E27FC236}">
                <a16:creationId xmlns:a16="http://schemas.microsoft.com/office/drawing/2014/main" id="{D9D51CCD-59BA-4E51-BDF8-192751A4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00350"/>
            <a:ext cx="510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2BD6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F2BD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F2BD65"/>
                </a:solidFill>
                <a:latin typeface="Noto Sans CJK SC"/>
                <a:ea typeface="Noto Sans CJK SC"/>
                <a:cs typeface="Noto Sans CJK SC"/>
              </a:rPr>
              <a:t>项目给它补了什么</a:t>
            </a:r>
          </a:p>
        </p:txBody>
      </p:sp>
      <p:sp>
        <p:nvSpPr>
          <p:cNvPr id="7" name="真实源码、表结构、库存和报表结果">
            <a:extLst xmlns:a="http://schemas.openxmlformats.org/drawingml/2006/main">
              <a:ext uri="{FF2B5EF4-FFF2-40B4-BE49-F238E27FC236}">
                <a16:creationId xmlns:a16="http://schemas.microsoft.com/office/drawing/2014/main" id="{2BA340E5-C736-420B-A756-267A022D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38525"/>
            <a:ext cx="51054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rPr>
              <a:t>真实源码、表结构、库存和报表结果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rPr>
              <a:t>业务说明，以及允许调用的工具清单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rPr>
              <a:t>按场景限制工具，按配置选择模型</a:t>
            </a:r>
          </a:p>
        </p:txBody>
      </p:sp>
      <p:sp>
        <p:nvSpPr>
          <p:cNvPr id="8" name="数字来自工具结果，业务解释仍要复核。当前主要靠实时取数补资料，尚未接入知识库检索。">
            <a:extLst xmlns:a="http://schemas.openxmlformats.org/drawingml/2006/main">
              <a:ext uri="{FF2B5EF4-FFF2-40B4-BE49-F238E27FC236}">
                <a16:creationId xmlns:a16="http://schemas.microsoft.com/office/drawing/2014/main" id="{7DDA37D2-2115-4DA5-9C50-E3D5CF73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26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9BDD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9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A9BDD3"/>
                </a:solidFill>
                <a:latin typeface="Noto Sans CJK SC"/>
                <a:ea typeface="Noto Sans CJK SC"/>
                <a:cs typeface="Noto Sans CJK SC"/>
              </a:rPr>
              <a:t>数字来自工具结果，业务解释仍要复核。当前主要靠实时取数补资料，尚未接入知识库检索。</a:t>
            </a:r>
          </a:p>
        </p:txBody>
      </p:sp>
    </p:spTree>
    <p:extLst>
      <p:ext uri="{BB962C8B-B14F-4D97-AF65-F5344CB8AC3E}">
        <p14:creationId xmlns:p14="http://schemas.microsoft.com/office/powerpoint/2010/main" val="14958919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业务场景：可以这样用">
            <a:extLst xmlns:a="http://schemas.openxmlformats.org/drawingml/2006/main">
              <a:ext uri="{FF2B5EF4-FFF2-40B4-BE49-F238E27FC236}">
                <a16:creationId xmlns:a16="http://schemas.microsoft.com/office/drawing/2014/main" id="{A39A57EC-DBE6-4B64-B507-719E1EF4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业务场景：可以这样用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07B39ABD-8DE0-438F-BEB4-5F24EB2E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97968-8F32-4748-B858-D9E7F062E4C8}"/>
              </a:ext>
            </a:extLst>
          </p:cNvPr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62100"/>
                <a:gridCol w="3143250"/>
                <a:gridCol w="3429000"/>
                <a:gridCol w="2686050"/>
              </a:tblGrid>
              <a:tr h="802005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场景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可以这样问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能拿到什么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使用边界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</a:tr>
              <a:tr h="802005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代码分析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“解释 ZDPMM702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主要做了什么”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读取真实源码，解释流程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提供排查线索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开发者复核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不执行生成的代码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</a:tr>
              <a:tr h="802005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库存查询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“钢板在工厂 1000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还有多少库存”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物料匹配、库存快照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可查批次和收发记录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只查已支持的工具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跨域问题需换场景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</a:tr>
              <a:tr h="802005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数据分析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“按工厂统计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ZIDPMM455 的数据”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受控取数、分组汇总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展示表格，并可生成图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受白名单和权限限制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统计口径仍需确认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</a:tr>
              <a:tr h="802005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报表执行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“运行 ZDPMM702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结果出来后分析重点”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填参数，提交后台作业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读结果后继续追问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仅限登记报表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新链路待 SAP 验收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</a:tr>
            </a:tbl>
          </a:graphicData>
        </a:graphic>
      </p:graphicFrame>
      <p:sp>
        <p:nvSpPr>
          <p:cNvPr id="4" name="这里按本地最新代码介绍能力。新增场景和结果追问，仍需部署到 SAP 后验证。">
            <a:extLst xmlns:a="http://schemas.openxmlformats.org/drawingml/2006/main">
              <a:ext uri="{FF2B5EF4-FFF2-40B4-BE49-F238E27FC236}">
                <a16:creationId xmlns:a16="http://schemas.microsoft.com/office/drawing/2014/main" id="{BCC97A35-7268-4E38-A858-508677B3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26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这里按本地最新代码介绍能力。新增场景和结果追问，仍需部署到 SAP 后验证。</a:t>
            </a:r>
          </a:p>
        </p:txBody>
      </p:sp>
    </p:spTree>
    <p:extLst>
      <p:ext uri="{BB962C8B-B14F-4D97-AF65-F5344CB8AC3E}">
        <p14:creationId xmlns:p14="http://schemas.microsoft.com/office/powerpoint/2010/main" val="14083730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项目评价：有用，稳定性还要补">
            <a:extLst xmlns:a="http://schemas.openxmlformats.org/drawingml/2006/main">
              <a:ext uri="{FF2B5EF4-FFF2-40B4-BE49-F238E27FC236}">
                <a16:creationId xmlns:a16="http://schemas.microsoft.com/office/drawing/2014/main" id="{1B27198E-8736-47BA-B3A6-78871594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项目评价：有用，稳定性还要补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9DFB7932-BAAD-453F-AF7C-BFA31096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3" name="6.6">
            <a:extLst xmlns:a="http://schemas.openxmlformats.org/drawingml/2006/main">
              <a:ext uri="{FF2B5EF4-FFF2-40B4-BE49-F238E27FC236}">
                <a16:creationId xmlns:a16="http://schemas.microsoft.com/office/drawing/2014/main" id="{12A5F75E-02BC-4E02-AB3B-1FB81A05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33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0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9900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0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rPr>
              <a:t>6.6</a:t>
            </a:r>
          </a:p>
        </p:txBody>
      </p:sp>
      <p:sp>
        <p:nvSpPr>
          <p:cNvPr id="4" name="/ 10">
            <a:extLst xmlns:a="http://schemas.openxmlformats.org/drawingml/2006/main">
              <a:ext uri="{FF2B5EF4-FFF2-40B4-BE49-F238E27FC236}">
                <a16:creationId xmlns:a16="http://schemas.microsoft.com/office/drawing/2014/main" id="{22FAF080-B0EA-4B2D-8D46-A31AF19B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0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/ 10</a:t>
            </a:r>
          </a:p>
        </p:txBody>
      </p:sp>
      <p:sp>
        <p:nvSpPr>
          <p:cNvPr id="5" name="项目成熟度">
            <a:extLst xmlns:a="http://schemas.openxmlformats.org/drawingml/2006/main">
              <a:ext uri="{FF2B5EF4-FFF2-40B4-BE49-F238E27FC236}">
                <a16:creationId xmlns:a16="http://schemas.microsoft.com/office/drawing/2014/main" id="{6427D4D0-7A3C-4036-8D25-3A909B7C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项目成熟度</a:t>
            </a:r>
          </a:p>
        </p:txBody>
      </p:sp>
      <p:sp>
        <p:nvSpPr>
          <p:cNvPr id="6" name="适合小范围试用">
            <a:extLst xmlns:a="http://schemas.openxmlformats.org/drawingml/2006/main">
              <a:ext uri="{FF2B5EF4-FFF2-40B4-BE49-F238E27FC236}">
                <a16:creationId xmlns:a16="http://schemas.microsoft.com/office/drawing/2014/main" id="{042354D1-837F-479E-95B4-045AEC37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32099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rPr>
              <a:t>适合小范围试用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rPr>
              <a:t>真实可靠性还需验收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B7AA0-F584-4DA6-BA33-C6D9256F26E6}"/>
              </a:ext>
            </a:extLst>
          </p:cNvPr>
          <p:cNvGraphicFramePr/>
          <p:nvPr/>
        </p:nvGraphicFramePr>
        <p:xfrm>
          <a:off xmlns:a="http://schemas.openxmlformats.org/drawingml/2006/main" x="4419600" y="1781175"/>
          <a:ext xmlns:a="http://schemas.openxmlformats.org/drawingml/2006/main" cx="7124700" cy="3733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28775"/>
                <a:gridCol w="1104900"/>
                <a:gridCol w="4391025"/>
              </a:tblGrid>
              <a:tr h="622300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评价项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评分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我的判断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</a:tr>
              <a:tr h="622300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代码分析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 / 10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接手程序有帮助，输出格式还要修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</a:tr>
              <a:tr h="622300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库存查询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 / 10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查数链路明确，物料与口径需确认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</a:tr>
              <a:tr h="622300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数据分析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 / 10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能出表出图，统计口径和回放待补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</a:tr>
              <a:tr h="622300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报表执行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 / 10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方向实用，完整链路仍待现场验收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</a:tr>
              <a:tr h="622300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工程可靠性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 / 10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错误恢复、版本同步、数据清理欠缺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8" name="主观成熟度评分，五项等权平均。依据代码与项目记录，不是准确率或实测通过率。">
            <a:extLst xmlns:a="http://schemas.openxmlformats.org/drawingml/2006/main">
              <a:ext uri="{FF2B5EF4-FFF2-40B4-BE49-F238E27FC236}">
                <a16:creationId xmlns:a16="http://schemas.microsoft.com/office/drawing/2014/main" id="{9DC6BF97-6261-43E1-BDB3-C7DB6A83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26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主观成熟度评分，五项等权平均。依据代码与项目记录，不是准确率或实测通过率。</a:t>
            </a:r>
          </a:p>
        </p:txBody>
      </p:sp>
    </p:spTree>
    <p:extLst>
      <p:ext uri="{BB962C8B-B14F-4D97-AF65-F5344CB8AC3E}">
        <p14:creationId xmlns:p14="http://schemas.microsoft.com/office/powerpoint/2010/main" val="546603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目前的不足：先把这些坑补上">
            <a:extLst xmlns:a="http://schemas.openxmlformats.org/drawingml/2006/main">
              <a:ext uri="{FF2B5EF4-FFF2-40B4-BE49-F238E27FC236}">
                <a16:creationId xmlns:a16="http://schemas.microsoft.com/office/drawing/2014/main" id="{0725FED0-5E79-40E0-A133-6674ED65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目前的不足：先把这些坑补上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2B40C51C-1D32-4E50-B4D9-E300909A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E4541-579A-477A-BA36-1F7EE0173CC4}"/>
              </a:ext>
            </a:extLst>
          </p:cNvPr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820400" cy="41624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5162550"/>
                <a:gridCol w="3562350"/>
              </a:tblGrid>
              <a:tr h="693738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不足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项目记录和代码里的现状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对用户的影响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</a:tr>
              <a:tr h="693738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真实验收不足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最新 A/B/C 三批还待部署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SAP 测评基线尚未回填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演示可看，稳定性需用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真实系统和问题证明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</a:tr>
              <a:tr h="693738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结果回放不完整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刷新或换会话后，表和图会丢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历史记录主要保存文字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难以完整回看分析结果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</a:tr>
              <a:tr h="693738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模型与回复格式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Agent 暂无失败重试和备选模型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回复解析可能破坏代码格式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模型出错就容易中断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代码展示仍有缺口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</a:tr>
              <a:tr h="693738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维护成本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部分仓库对象落后于 SAP 线上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日志和结果缺少清理机制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升级需要逐项核对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长期数据会堆积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</a:tr>
              <a:tr h="693738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扩大开放条件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加密传输和查询规则加固已暂缓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普通对话的会话归属校验待补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扩大用户范围前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还需要补齐这些门槛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4" name="依据现有复盘与代码；本次没有在 SAP 现场复测。部分修复已完成，仍待部署验收。">
            <a:extLst xmlns:a="http://schemas.openxmlformats.org/drawingml/2006/main">
              <a:ext uri="{FF2B5EF4-FFF2-40B4-BE49-F238E27FC236}">
                <a16:creationId xmlns:a16="http://schemas.microsoft.com/office/drawing/2014/main" id="{F914F914-7DF9-4C33-A54D-60A44089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26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依据现有复盘与代码；本次没有在 SAP 现场复测。部分修复已完成，仍待部署验收。</a:t>
            </a:r>
          </a:p>
        </p:txBody>
      </p:sp>
    </p:spTree>
    <p:extLst>
      <p:ext uri="{BB962C8B-B14F-4D97-AF65-F5344CB8AC3E}">
        <p14:creationId xmlns:p14="http://schemas.microsoft.com/office/powerpoint/2010/main" val="8152029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现阶段最有用的地方">
            <a:extLst xmlns:a="http://schemas.openxmlformats.org/drawingml/2006/main">
              <a:ext uri="{FF2B5EF4-FFF2-40B4-BE49-F238E27FC236}">
                <a16:creationId xmlns:a16="http://schemas.microsoft.com/office/drawing/2014/main" id="{A2EF5965-C2E4-4C71-9E11-FFDEE5B2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现阶段最有用的地方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BC8DDB67-6519-4637-9FA0-F9D6D3CD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3" name="优先用在高频、只读、结果能复核的小问题上">
            <a:extLst xmlns:a="http://schemas.openxmlformats.org/drawingml/2006/main">
              <a:ext uri="{FF2B5EF4-FFF2-40B4-BE49-F238E27FC236}">
                <a16:creationId xmlns:a16="http://schemas.microsoft.com/office/drawing/2014/main" id="{637D995C-046A-4CA0-924B-19AFDD3F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优先用在高频、只读、结果能复核的小问题上</a:t>
            </a:r>
          </a:p>
        </p:txBody>
      </p:sp>
      <p:sp>
        <p:nvSpPr>
          <p:cNvPr id="4" name="SAP 开发者">
            <a:extLst xmlns:a="http://schemas.openxmlformats.org/drawingml/2006/main">
              <a:ext uri="{FF2B5EF4-FFF2-40B4-BE49-F238E27FC236}">
                <a16:creationId xmlns:a16="http://schemas.microsoft.com/office/drawing/2014/main" id="{B668A8C3-C351-409A-8879-436D7E51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rPr>
              <a:t>SAP 开发者</a:t>
            </a:r>
          </a:p>
        </p:txBody>
      </p:sp>
      <p:sp>
        <p:nvSpPr>
          <p:cNvPr id="5" name="接手陌生程序时，先了解逻辑和表关系">
            <a:extLst xmlns:a="http://schemas.openxmlformats.org/drawingml/2006/main">
              <a:ext uri="{FF2B5EF4-FFF2-40B4-BE49-F238E27FC236}">
                <a16:creationId xmlns:a16="http://schemas.microsoft.com/office/drawing/2014/main" id="{E6B91E34-83CD-4898-BCD5-38BADA3A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33600"/>
            <a:ext cx="7943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接手陌生程序时，先了解逻辑和表关系</a:t>
            </a:r>
          </a:p>
        </p:txBody>
      </p:sp>
      <p:sp>
        <p:nvSpPr>
          <p:cNvPr id="6" name="再回到源码验证，减少从零摸索。">
            <a:extLst xmlns:a="http://schemas.openxmlformats.org/drawingml/2006/main">
              <a:ext uri="{FF2B5EF4-FFF2-40B4-BE49-F238E27FC236}">
                <a16:creationId xmlns:a16="http://schemas.microsoft.com/office/drawing/2014/main" id="{F6B66F5D-A5A8-4BC2-ACED-A54E5254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47950"/>
            <a:ext cx="794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rPr>
              <a:t>再回到源码验证，减少从零摸索。</a:t>
            </a:r>
          </a:p>
        </p:txBody>
      </p:sp>
      <p:sp>
        <p:nvSpPr>
          <p:cNvPr id="7" name="业务顾问与骨干">
            <a:extLst xmlns:a="http://schemas.openxmlformats.org/drawingml/2006/main">
              <a:ext uri="{FF2B5EF4-FFF2-40B4-BE49-F238E27FC236}">
                <a16:creationId xmlns:a16="http://schemas.microsoft.com/office/drawing/2014/main" id="{7B01A439-E716-4EAC-8D91-19ED2774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rPr>
              <a:t>业务顾问与骨干</a:t>
            </a:r>
          </a:p>
        </p:txBody>
      </p:sp>
      <p:sp>
        <p:nvSpPr>
          <p:cNvPr id="8" name="查库存、看登记报表，拿到结果后接着问">
            <a:extLst xmlns:a="http://schemas.openxmlformats.org/drawingml/2006/main">
              <a:ext uri="{FF2B5EF4-FFF2-40B4-BE49-F238E27FC236}">
                <a16:creationId xmlns:a16="http://schemas.microsoft.com/office/drawing/2014/main" id="{1DD13EC1-105F-4A62-A75A-8A18F2CC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7943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查库存、看登记报表，拿到结果后接着问</a:t>
            </a:r>
          </a:p>
        </p:txBody>
      </p:sp>
      <p:sp>
        <p:nvSpPr>
          <p:cNvPr id="9" name="让一次查询继续变成解释和排查。">
            <a:extLst xmlns:a="http://schemas.openxmlformats.org/drawingml/2006/main">
              <a:ext uri="{FF2B5EF4-FFF2-40B4-BE49-F238E27FC236}">
                <a16:creationId xmlns:a16="http://schemas.microsoft.com/office/drawing/2014/main" id="{7AC3B20D-C013-442D-B670-29AC122A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48100"/>
            <a:ext cx="794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rPr>
              <a:t>让一次查询继续变成解释和排查。</a:t>
            </a:r>
          </a:p>
        </p:txBody>
      </p:sp>
      <p:sp>
        <p:nvSpPr>
          <p:cNvPr id="10" name="IT 管理员">
            <a:extLst xmlns:a="http://schemas.openxmlformats.org/drawingml/2006/main">
              <a:ext uri="{FF2B5EF4-FFF2-40B4-BE49-F238E27FC236}">
                <a16:creationId xmlns:a16="http://schemas.microsoft.com/office/drawing/2014/main" id="{86E7B828-27FA-471B-BE9C-268E395E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268C4"/>
                </a:solidFill>
                <a:latin typeface="Noto Sans CJK SC"/>
                <a:ea typeface="Noto Sans CJK SC"/>
                <a:cs typeface="Noto Sans CJK SC"/>
              </a:rPr>
              <a:t>IT 管理员</a:t>
            </a:r>
          </a:p>
        </p:txBody>
      </p:sp>
      <p:sp>
        <p:nvSpPr>
          <p:cNvPr id="11" name="把已登记报表接进对话入口，统一管模型">
            <a:extLst xmlns:a="http://schemas.openxmlformats.org/drawingml/2006/main">
              <a:ext uri="{FF2B5EF4-FFF2-40B4-BE49-F238E27FC236}">
                <a16:creationId xmlns:a16="http://schemas.microsoft.com/office/drawing/2014/main" id="{437B84A6-5306-4ED6-9F87-2031C807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33900"/>
            <a:ext cx="7943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把已登记报表接进对话入口，统一管模型</a:t>
            </a:r>
          </a:p>
        </p:txBody>
      </p:sp>
      <p:sp>
        <p:nvSpPr>
          <p:cNvPr id="12" name="已有系统多一个入口，新场景逐步开放。">
            <a:extLst xmlns:a="http://schemas.openxmlformats.org/drawingml/2006/main">
              <a:ext uri="{FF2B5EF4-FFF2-40B4-BE49-F238E27FC236}">
                <a16:creationId xmlns:a16="http://schemas.microsoft.com/office/drawing/2014/main" id="{2A582301-4F42-4981-BD3D-CDA19FEA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48250"/>
            <a:ext cx="794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30475B"/>
                </a:solidFill>
                <a:latin typeface="Noto Sans CJK SC"/>
                <a:ea typeface="Noto Sans CJK SC"/>
                <a:cs typeface="Noto Sans CJK SC"/>
              </a:rPr>
              <a:t>已有系统多一个入口，新场景逐步开放。</a:t>
            </a:r>
          </a:p>
        </p:txBody>
      </p:sp>
      <p:sp>
        <p:nvSpPr>
          <p:cNvPr id="13" name="预期收益是少翻资料、少切界面。实际节省多少时间，还需要试用记录来验证。">
            <a:extLst xmlns:a="http://schemas.openxmlformats.org/drawingml/2006/main">
              <a:ext uri="{FF2B5EF4-FFF2-40B4-BE49-F238E27FC236}">
                <a16:creationId xmlns:a16="http://schemas.microsoft.com/office/drawing/2014/main" id="{F5D7BB09-CAA4-48EF-9C08-3F7F5205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26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预期收益是少翻资料、少切界面。实际节省多少时间，还需要试用记录来验证。</a:t>
            </a:r>
          </a:p>
        </p:txBody>
      </p:sp>
    </p:spTree>
    <p:extLst>
      <p:ext uri="{BB962C8B-B14F-4D97-AF65-F5344CB8AC3E}">
        <p14:creationId xmlns:p14="http://schemas.microsoft.com/office/powerpoint/2010/main" val="13136519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下一步：先验收，再补稳定性">
            <a:extLst xmlns:a="http://schemas.openxmlformats.org/drawingml/2006/main">
              <a:ext uri="{FF2B5EF4-FFF2-40B4-BE49-F238E27FC236}">
                <a16:creationId xmlns:a16="http://schemas.microsoft.com/office/drawing/2014/main" id="{F1CAE81B-5164-4CA6-AC4D-42419D9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下一步：先验收，再补稳定性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C6836556-8C53-45C2-A9E0-68B9E764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13B5E-B4EB-4E78-B2C5-97FE346B17CE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820400" cy="40290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4638675"/>
                <a:gridCol w="4086225"/>
              </a:tblGrid>
              <a:tr h="805815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顺序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具体做什么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用什么证明做成了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</a:tr>
              <a:tr h="805815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先验收当前版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部署已有增量，跑真实 29 题测评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把 SAP 线上源码同步回仓库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留存逐题结果和失败原因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仓库与线上版本一致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</a:tr>
              <a:tr h="805815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补使用稳定性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补模型重试、代码格式和表图回放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修请求重试与错误提示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故障后能恢复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刷新后仍能回看结果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</a:tr>
              <a:tr h="805815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再扩大开放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补加密传输、查询规则和权限检查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建立结果和日志清理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权限反例被拒绝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请求加密，过期数据可清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</a:tr>
              <a:tr h="805815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最后扩场景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按实际耗时评估异步任务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逐步增加高频业务工具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记录通过率、耗时和用户复核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达到团队约定门槛再扩大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</a:tr>
            </a:tbl>
          </a:graphicData>
        </a:graphic>
      </p:graphicFrame>
      <p:sp>
        <p:nvSpPr>
          <p:cNvPr id="4" name="29 题只是现有题库规模。通过率、耗时和业务效果，要在真实 SAP 链路上测出来。">
            <a:extLst xmlns:a="http://schemas.openxmlformats.org/drawingml/2006/main">
              <a:ext uri="{FF2B5EF4-FFF2-40B4-BE49-F238E27FC236}">
                <a16:creationId xmlns:a16="http://schemas.microsoft.com/office/drawing/2014/main" id="{75490202-61CD-4C17-B3E9-943361A1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26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29 题只是现有题库规模。通过率、耗时和业务效果，要在真实 SAP 链路上测出来。</a:t>
            </a:r>
          </a:p>
        </p:txBody>
      </p:sp>
    </p:spTree>
    <p:extLst>
      <p:ext uri="{BB962C8B-B14F-4D97-AF65-F5344CB8AC3E}">
        <p14:creationId xmlns:p14="http://schemas.microsoft.com/office/powerpoint/2010/main" val="6408017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后期研究：值得继续试的四个方向">
            <a:extLst xmlns:a="http://schemas.openxmlformats.org/drawingml/2006/main">
              <a:ext uri="{FF2B5EF4-FFF2-40B4-BE49-F238E27FC236}">
                <a16:creationId xmlns:a16="http://schemas.microsoft.com/office/drawing/2014/main" id="{CDF01C7F-B95A-462A-9D32-A6D54232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后期研究：值得继续试的四个方向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4752A5F5-686B-449D-90D9-F93EE1F1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5A94F-D301-442F-AB58-3E6E1E00B0F1}"/>
              </a:ext>
            </a:extLst>
          </p:cNvPr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820400" cy="40290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19300"/>
                <a:gridCol w="4686300"/>
                <a:gridCol w="4114800"/>
              </a:tblGrid>
              <a:tr h="805815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研究方向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值得研究的问题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先做一个什么实验</a:t>
                      </a:r>
                    </a:p>
                  </a:txBody>
                  <a:tcPr marL="142875" marR="142875" marT="66675" marB="66675" anchor="ctr">
                    <a:solidFill>
                      <a:srgbClr val="17324D"/>
                    </a:solidFill>
                  </a:tcPr>
                </a:tc>
              </a:tr>
              <a:tr h="805815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业务口径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“库存”“需求”分别指什么？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企业字段如何对应业务词？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做业务术语和指标字典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比较追问次数与口径错误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</a:tr>
              <a:tr h="805815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知识检索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报表说明、内部文档如何帮助回答？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答案怎样引用具体出处？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做检索增强，先找资料再回答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比较有无检索的回答质量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</a:tr>
              <a:tr h="805815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模型选型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不同模型在哪类 SAP 题上更稳？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速度和调用成本怎样平衡？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用同一题库比较模型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统计通过率、耗时和每题成本</a:t>
                      </a:r>
                    </a:p>
                  </a:txBody>
                  <a:tcPr marL="142875" marR="142875" marT="66675" marB="66675" anchor="ctr">
                    <a:solidFill>
                      <a:srgbClr val="FAFAF7"/>
                    </a:solidFill>
                  </a:tcPr>
                </a:tc>
              </a:tr>
              <a:tr h="805815"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732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长任务体验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多轮查询如何不占住同步请求？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跨场景的结果如何继续使用？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试异步任务，提交后查看进度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3047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测并发、超时和结果恢复</a:t>
                      </a:r>
                    </a:p>
                  </a:txBody>
                  <a:tcPr marL="142875" marR="142875" marT="66675" marB="66675" anchor="ctr">
                    <a:solidFill>
                      <a:srgbClr val="F0F3F4"/>
                    </a:solidFill>
                  </a:tcPr>
                </a:tc>
              </a:tr>
            </a:tbl>
          </a:graphicData>
        </a:graphic>
      </p:graphicFrame>
      <p:sp>
        <p:nvSpPr>
          <p:cNvPr id="4" name="这些是后续研究建议。先做小实验，拿真实问题和人工复核来判断是否值得扩展。">
            <a:extLst xmlns:a="http://schemas.openxmlformats.org/drawingml/2006/main">
              <a:ext uri="{FF2B5EF4-FFF2-40B4-BE49-F238E27FC236}">
                <a16:creationId xmlns:a16="http://schemas.microsoft.com/office/drawing/2014/main" id="{D4D0A428-292E-4670-84DD-3F4F3533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26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77A8B"/>
                </a:solidFill>
                <a:latin typeface="Noto Sans CJK SC"/>
                <a:ea typeface="Noto Sans CJK SC"/>
                <a:cs typeface="Noto Sans CJK SC"/>
              </a:rPr>
              <a:t>这些是后续研究建议。先做小实验，拿真实问题和人工复核来判断是否值得扩展。</a:t>
            </a:r>
          </a:p>
        </p:txBody>
      </p:sp>
    </p:spTree>
    <p:extLst>
      <p:ext uri="{BB962C8B-B14F-4D97-AF65-F5344CB8AC3E}">
        <p14:creationId xmlns:p14="http://schemas.microsoft.com/office/powerpoint/2010/main" val="12214544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2C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我的项目判断">
            <a:extLst xmlns:a="http://schemas.openxmlformats.org/drawingml/2006/main">
              <a:ext uri="{FF2B5EF4-FFF2-40B4-BE49-F238E27FC236}">
                <a16:creationId xmlns:a16="http://schemas.microsoft.com/office/drawing/2014/main" id="{6C96B3E1-2980-4763-B8A5-255FAADF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我的项目判断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15BD35F8-1B4C-4FD4-B8D3-22A79976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FB4C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9FB4C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FB4CB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3" name="值得继续做">
            <a:extLst xmlns:a="http://schemas.openxmlformats.org/drawingml/2006/main">
              <a:ext uri="{FF2B5EF4-FFF2-40B4-BE49-F238E27FC236}">
                <a16:creationId xmlns:a16="http://schemas.microsoft.com/office/drawing/2014/main" id="{F0F71E91-2F60-4093-B925-AA757694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值得继续做</a:t>
            </a:r>
          </a:p>
        </p:txBody>
      </p:sp>
      <p:sp>
        <p:nvSpPr>
          <p:cNvPr id="4" name="已经有“查资料、拿结果、解释问题”的基础">
            <a:extLst xmlns:a="http://schemas.openxmlformats.org/drawingml/2006/main">
              <a:ext uri="{FF2B5EF4-FFF2-40B4-BE49-F238E27FC236}">
                <a16:creationId xmlns:a16="http://schemas.microsoft.com/office/drawing/2014/main" id="{342F997F-17F1-478D-A88B-28CCF383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75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rPr>
              <a:t>已经有“查资料、拿结果、解释问题”的基础</a:t>
            </a:r>
          </a:p>
        </p:txBody>
      </p:sp>
      <p:sp>
        <p:nvSpPr>
          <p:cNvPr id="5" name="下一步先完成真实 SAP 验收，补齐稳定性和结果回放">
            <a:extLst xmlns:a="http://schemas.openxmlformats.org/drawingml/2006/main">
              <a:ext uri="{FF2B5EF4-FFF2-40B4-BE49-F238E27FC236}">
                <a16:creationId xmlns:a16="http://schemas.microsoft.com/office/drawing/2014/main" id="{A5425640-54EB-4F49-9E0B-94615E7C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6725"/>
            <a:ext cx="10553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rPr>
              <a:t>下一步先完成真实 SAP 验收，补齐稳定性和结果回放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E0EAF4"/>
                </a:solidFill>
                <a:latin typeface="Noto Sans CJK SC"/>
                <a:ea typeface="Noto Sans CJK SC"/>
                <a:cs typeface="Noto Sans CJK SC"/>
              </a:rPr>
              <a:t>再拿真实业务问题，证明它能持续帮上忙</a:t>
            </a:r>
          </a:p>
        </p:txBody>
      </p:sp>
      <p:sp>
        <p:nvSpPr>
          <p:cNvPr id="6" name="状态依据：本地代码与 2026-10-12 项目记录。新增改动仍待 SAP 部署与现场验收">
            <a:extLst xmlns:a="http://schemas.openxmlformats.org/drawingml/2006/main">
              <a:ext uri="{FF2B5EF4-FFF2-40B4-BE49-F238E27FC236}">
                <a16:creationId xmlns:a16="http://schemas.microsoft.com/office/drawing/2014/main" id="{B2538307-AF7A-4F89-A56B-A4E91731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26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9BDD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9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A9BDD3"/>
                </a:solidFill>
                <a:latin typeface="Noto Sans CJK SC"/>
                <a:ea typeface="Noto Sans CJK SC"/>
                <a:cs typeface="Noto Sans CJK SC"/>
              </a:rPr>
              <a:t>状态依据：本地代码与 2026-10-12 项目记录。新增改动仍待 SAP 部署与现场验收。</a:t>
            </a:r>
          </a:p>
        </p:txBody>
      </p:sp>
    </p:spTree>
    <p:extLst>
      <p:ext uri="{BB962C8B-B14F-4D97-AF65-F5344CB8AC3E}">
        <p14:creationId xmlns:p14="http://schemas.microsoft.com/office/powerpoint/2010/main" val="1408024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2026-10-13T13:29:42.8440000Z</dcterms:created>
  <dcterms:modified xsi:type="dcterms:W3CDTF">2026-10-13T13:29:42.8440000Z</dcterms:modified>
</coreProperties>
</file>