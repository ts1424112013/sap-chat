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底层原理一句话：UI5 提问 → OData 进 ABAP → 规则路由 + 受控工具取真实 SAP 数据 → 事实注入 prompt 调企业 LLM → 护栏校验 → 落库渲染。全程不出内网，业务数据只读。与 SAP Joule 的差异：不依赖向量 RAG，上下文来自 ABAP 编排层实时受控取数（源码/表结构/样例数据/能力目录）注入提示词；模型经企业内 OpenAI 兼容网关调用，配置表零代码切换。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274320" cy="274320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10896"/>
            <a:ext cx="274320" cy="274320"/>
          </a:xfrm>
          <a:prstGeom prst="ellipse">
            <a:avLst/>
          </a:prstGeom>
          <a:solidFill>
            <a:srgbClr val="0A6ED1"/>
          </a:solidFill>
          <a:ln/>
        </p:spPr>
      </p:sp>
      <p:sp>
        <p:nvSpPr>
          <p:cNvPr id="4" name="Text 2"/>
          <p:cNvSpPr/>
          <p:nvPr/>
        </p:nvSpPr>
        <p:spPr>
          <a:xfrm>
            <a:off x="950976" y="20116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SAP AI 对话助手 · 底层原理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994392" y="274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i="1" dirty="0">
                <a:solidFill>
                  <a:srgbClr val="0A6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A事业群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9141" y="987552"/>
            <a:ext cx="365760" cy="365760"/>
          </a:xfrm>
          <a:prstGeom prst="ellipse">
            <a:avLst/>
          </a:prstGeom>
          <a:solidFill>
            <a:srgbClr val="0A6E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0229" y="1444752"/>
            <a:ext cx="1243584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6E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输入问题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2395728"/>
            <a:ext cx="13776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UI5 聊天框以自然语言提问，可选普通对话 / Agent 模式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11414" y="1787652"/>
            <a:ext cx="173736" cy="201168"/>
          </a:xfrm>
          <a:prstGeom prst="rightArrow">
            <a:avLst/>
          </a:prstGeom>
          <a:solidFill>
            <a:srgbClr val="8FA9C4"/>
          </a:solidFill>
          <a:ln/>
        </p:spPr>
      </p:sp>
      <p:sp>
        <p:nvSpPr>
          <p:cNvPr id="10" name="Text 8"/>
          <p:cNvSpPr/>
          <p:nvPr/>
        </p:nvSpPr>
        <p:spPr>
          <a:xfrm>
            <a:off x="2331663" y="987552"/>
            <a:ext cx="365760" cy="365760"/>
          </a:xfrm>
          <a:prstGeom prst="ellipse">
            <a:avLst/>
          </a:prstGeom>
          <a:solidFill>
            <a:srgbClr val="0A6E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92751" y="1444752"/>
            <a:ext cx="1243584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6E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(ABAP 后端)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5714" y="2395728"/>
            <a:ext cx="13776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OData 统一接入，ABAP 编排层理解意图：管理 · 路由 · 管控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43936" y="1787652"/>
            <a:ext cx="173736" cy="201168"/>
          </a:xfrm>
          <a:prstGeom prst="rightArrow">
            <a:avLst/>
          </a:prstGeom>
          <a:solidFill>
            <a:srgbClr val="8FA9C4"/>
          </a:solidFill>
          <a:ln/>
        </p:spPr>
      </p:sp>
      <p:sp>
        <p:nvSpPr>
          <p:cNvPr id="14" name="Text 12"/>
          <p:cNvSpPr/>
          <p:nvPr/>
        </p:nvSpPr>
        <p:spPr>
          <a:xfrm>
            <a:off x="3764185" y="987552"/>
            <a:ext cx="365760" cy="365760"/>
          </a:xfrm>
          <a:prstGeom prst="ellipse">
            <a:avLst/>
          </a:prstGeom>
          <a:solidFill>
            <a:srgbClr val="0A6E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25273" y="1444752"/>
            <a:ext cx="1243584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6E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提取真实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业务上下文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58236" y="2395728"/>
            <a:ext cx="13776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 SAP 对象，抽取源码 / 表结构 / 样例数据 / 会话历史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6458" y="1787652"/>
            <a:ext cx="173736" cy="201168"/>
          </a:xfrm>
          <a:prstGeom prst="rightArrow">
            <a:avLst/>
          </a:prstGeom>
          <a:solidFill>
            <a:srgbClr val="8FA9C4"/>
          </a:solidFill>
          <a:ln/>
        </p:spPr>
      </p:sp>
      <p:sp>
        <p:nvSpPr>
          <p:cNvPr id="18" name="Text 16"/>
          <p:cNvSpPr/>
          <p:nvPr/>
        </p:nvSpPr>
        <p:spPr>
          <a:xfrm>
            <a:off x="5196707" y="987552"/>
            <a:ext cx="365760" cy="365760"/>
          </a:xfrm>
          <a:prstGeom prst="ellipse">
            <a:avLst/>
          </a:prstGeom>
          <a:solidFill>
            <a:srgbClr val="0A6E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7795" y="1444752"/>
            <a:ext cx="1243584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6E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 LLM 发送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增强提示词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90758" y="2395728"/>
            <a:ext cx="13776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查询附加真实业务事实、领域知识卡与场景工具白名单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08980" y="1787652"/>
            <a:ext cx="173736" cy="201168"/>
          </a:xfrm>
          <a:prstGeom prst="rightArrow">
            <a:avLst/>
          </a:prstGeom>
          <a:solidFill>
            <a:srgbClr val="8FA9C4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229" y="987552"/>
            <a:ext cx="365760" cy="365760"/>
          </a:xfrm>
          <a:prstGeom prst="ellipse">
            <a:avLst/>
          </a:prstGeom>
          <a:solidFill>
            <a:srgbClr val="0A6E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90317" y="1444752"/>
            <a:ext cx="1243584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6E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选择最佳模型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生成响应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3280" y="2395728"/>
            <a:ext cx="13776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 LLM 网关：AUTO 路由 · 故障降级 · 配置表零代码切换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41501" y="1787652"/>
            <a:ext cx="173736" cy="201168"/>
          </a:xfrm>
          <a:prstGeom prst="rightArrow">
            <a:avLst/>
          </a:prstGeom>
          <a:solidFill>
            <a:srgbClr val="8FA9C4"/>
          </a:solidFill>
          <a:ln/>
        </p:spPr>
      </p:sp>
      <p:sp>
        <p:nvSpPr>
          <p:cNvPr id="26" name="Text 24"/>
          <p:cNvSpPr/>
          <p:nvPr/>
        </p:nvSpPr>
        <p:spPr>
          <a:xfrm>
            <a:off x="8061750" y="987552"/>
            <a:ext cx="365760" cy="365760"/>
          </a:xfrm>
          <a:prstGeom prst="ellipse">
            <a:avLst/>
          </a:prstGeom>
          <a:solidFill>
            <a:srgbClr val="0A6E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2838" y="1444752"/>
            <a:ext cx="1243584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6E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受控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工具循环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55801" y="2395728"/>
            <a:ext cx="13776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 JSON 协议 + 护栏校验，循环执行白名单只读工具（≤10 轮）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874023" y="1787652"/>
            <a:ext cx="173736" cy="201168"/>
          </a:xfrm>
          <a:prstGeom prst="rightArrow">
            <a:avLst/>
          </a:prstGeom>
          <a:solidFill>
            <a:srgbClr val="8FA9C4"/>
          </a:solidFill>
          <a:ln/>
        </p:spPr>
      </p:sp>
      <p:sp>
        <p:nvSpPr>
          <p:cNvPr id="30" name="Text 28"/>
          <p:cNvSpPr/>
          <p:nvPr/>
        </p:nvSpPr>
        <p:spPr>
          <a:xfrm>
            <a:off x="9494272" y="987552"/>
            <a:ext cx="365760" cy="365760"/>
          </a:xfrm>
          <a:prstGeom prst="ellipse">
            <a:avLst/>
          </a:prstGeom>
          <a:solidFill>
            <a:srgbClr val="0A6E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55360" y="1444752"/>
            <a:ext cx="1243584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6E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安全护栏验证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88323" y="2395728"/>
            <a:ext cx="13776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只读护栏 · 表权限 · 协议校验 · 审计留痕，响应经多重验证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306545" y="1787652"/>
            <a:ext cx="173736" cy="201168"/>
          </a:xfrm>
          <a:prstGeom prst="rightArrow">
            <a:avLst/>
          </a:prstGeom>
          <a:solidFill>
            <a:srgbClr val="8FA9C4"/>
          </a:solidFill>
          <a:ln/>
        </p:spPr>
      </p:sp>
      <p:sp>
        <p:nvSpPr>
          <p:cNvPr id="34" name="Text 32"/>
          <p:cNvSpPr/>
          <p:nvPr/>
        </p:nvSpPr>
        <p:spPr>
          <a:xfrm>
            <a:off x="10926794" y="987552"/>
            <a:ext cx="365760" cy="365760"/>
          </a:xfrm>
          <a:prstGeom prst="ellipse">
            <a:avLst/>
          </a:prstGeom>
          <a:solidFill>
            <a:srgbClr val="0A6E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487882" y="1444752"/>
            <a:ext cx="1243584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6E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聊天界面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输出答案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420845" y="2395728"/>
            <a:ext cx="13776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打字机渲染 + SVG 图表 + Trace 回放，问答落库可追溯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791617" y="3182112"/>
            <a:ext cx="310896" cy="475488"/>
          </a:xfrm>
          <a:prstGeom prst="upArrow">
            <a:avLst/>
          </a:prstGeom>
          <a:solidFill>
            <a:srgbClr val="0A6ED1"/>
          </a:solidFill>
          <a:ln/>
        </p:spPr>
      </p:sp>
      <p:sp>
        <p:nvSpPr>
          <p:cNvPr id="38" name="Shape 36"/>
          <p:cNvSpPr/>
          <p:nvPr/>
        </p:nvSpPr>
        <p:spPr>
          <a:xfrm>
            <a:off x="365760" y="3657600"/>
            <a:ext cx="7818120" cy="2487168"/>
          </a:xfrm>
          <a:prstGeom prst="roundRect">
            <a:avLst>
              <a:gd name="adj" fmla="val 2941"/>
            </a:avLst>
          </a:prstGeom>
          <a:solidFill>
            <a:srgbClr val="F7FAFE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3767328"/>
            <a:ext cx="7360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SAP 业务数据源 · ENTERPRISE DATA SOURCES（编排层受控实时读取 · 全程只读）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94360" y="4169664"/>
            <a:ext cx="236829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MARA / MARC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物料主档 · 工厂视图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090672" y="4169664"/>
            <a:ext cx="236829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MARD / MCHB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库位库存 · 批次库存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586984" y="4169664"/>
            <a:ext cx="236829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MSEG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物料凭证收发记录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94360" y="5120640"/>
            <a:ext cx="236829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能力目录 Z 表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白名单实体数据分析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090672" y="5120640"/>
            <a:ext cx="236829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ABAP 源码 / DDIC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程序源码 · 表结构元数据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586984" y="5120640"/>
            <a:ext cx="236829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C9D6E4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后台报表作业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登记 TCode 采集结果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366760" y="3657600"/>
            <a:ext cx="3456432" cy="2487168"/>
          </a:xfrm>
          <a:prstGeom prst="roundRect">
            <a:avLst>
              <a:gd name="adj" fmla="val 2941"/>
            </a:avLst>
          </a:prstGeom>
          <a:solidFill>
            <a:srgbClr val="FFF8E6"/>
          </a:solidFill>
          <a:ln w="12700">
            <a:solidFill>
              <a:srgbClr val="EFD9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49640" y="37673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为什么「真实上下文」是关键所在？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549640" y="4169664"/>
            <a:ext cx="31272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B326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</a:t>
            </a:r>
            <a:r>
              <a:rPr lang="en-US" sz="10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没有真实上下文：</a:t>
            </a:r>
            <a:r>
              <a:rPr lang="en-US" sz="100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 AI 模型只有公共知识，缺乏企业业务语境，容易过时、幻觉、答非所问。</a:t>
            </a:r>
            <a:endParaRPr lang="en-US" sz="1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r>
              <a:rPr lang="en-US" sz="10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有了事实注入：</a:t>
            </a:r>
            <a:r>
              <a:rPr lang="en-US" sz="100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模型基于实时、可信的 SAP 数据与元数据作答 —— 准确、相关且可操作。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549640" y="5632704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注：本项目不依赖向量 RAG —— 上下文由 ABAP 编排层实时受控取数后注入提示词。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345936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全链路运行于企业内网：UI5 前端 → OData Function Import → ABAP 编排 → 企业 LLM 网关 ｜ 业务数据全程只读 · 问答与工具调用全程审计留痕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AI 对话助手 底层原理</dc:title>
  <dc:subject>PptxGenJS Presentation</dc:subject>
  <dc:creator>SAP AI 对话助手项目组</dc:creator>
  <cp:lastModifiedBy>SAP AI 对话助手项目组</cp:lastModifiedBy>
  <cp:revision>1</cp:revision>
  <dcterms:created xsi:type="dcterms:W3CDTF">2026-10-11T12:38:51Z</dcterms:created>
  <dcterms:modified xsi:type="dcterms:W3CDTF">2026-10-11T12:38:51Z</dcterms:modified>
</cp:coreProperties>
</file>